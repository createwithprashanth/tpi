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5" d="100"/>
          <a:sy n="115" d="100"/>
        </p:scale>
        <p:origin x="6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77A613B-611F-4AAD-A28F-C7F74049E1DA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6BBFEEA-C846-4EDC-9B25-A24BA232D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36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BBFEEA-C846-4EDC-9B25-A24BA232DC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79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www.xyra-ai.com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xyra-ai.com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www.xyra-ai.com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CC4A7-55C0-2560-CBF4-C55466840C0D}"/>
              </a:ext>
            </a:extLst>
          </p:cNvPr>
          <p:cNvSpPr txBox="1"/>
          <p:nvPr userDrawn="1"/>
        </p:nvSpPr>
        <p:spPr>
          <a:xfrm>
            <a:off x="319176" y="6398696"/>
            <a:ext cx="22716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65000"/>
                  </a:schemeClr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www.xyra-ai.com</a:t>
            </a:r>
            <a:endParaRPr 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pranava@xyra-ai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003" y="1151108"/>
            <a:ext cx="3896936" cy="10471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96662" y="3489436"/>
            <a:ext cx="3125218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5200" b="1" i="0">
                <a:solidFill>
                  <a:srgbClr val="0F172A"/>
                </a:solidFill>
                <a:latin typeface="Arial"/>
              </a:defRPr>
            </a:pPr>
            <a:r>
              <a:rPr sz="2400" dirty="0"/>
              <a:t>XYRA</a:t>
            </a:r>
            <a:r>
              <a:rPr lang="en-US" sz="2400" dirty="0"/>
              <a:t> AI</a:t>
            </a:r>
            <a:r>
              <a:rPr sz="2400" dirty="0"/>
              <a:t> Studio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05275" y="4023360"/>
            <a:ext cx="450799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66281" y="4234339"/>
            <a:ext cx="463327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0" i="0">
                <a:solidFill>
                  <a:srgbClr val="2563EB"/>
                </a:solidFill>
                <a:latin typeface="Arial"/>
              </a:defRPr>
            </a:pPr>
            <a:r>
              <a:rPr dirty="0"/>
              <a:t>Private AI for EPC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1043787" y="5230368"/>
            <a:ext cx="2660904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1803" y="5294376"/>
            <a:ext cx="240487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P&amp;ID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9011" y="5230368"/>
            <a:ext cx="1700784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07027" y="5294376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Piping MTO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54115" y="5230368"/>
            <a:ext cx="3072384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2131" y="5294376"/>
            <a:ext cx="28163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Centralized 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00819" y="5230368"/>
            <a:ext cx="1700784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28835" y="5294376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  <a:latin typeface="Arial"/>
              </a:defRPr>
            </a:pPr>
            <a:r>
              <a:t>On-Premise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6433" y="6586469"/>
            <a:ext cx="60238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85800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i="0">
                <a:solidFill>
                  <a:srgbClr val="0F172A"/>
                </a:solidFill>
                <a:latin typeface="Arial"/>
              </a:defRPr>
            </a:pPr>
            <a:r>
              <a:t>This is how engineering data moves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From the moment a P&amp;ID is issued to the moment a deliverable is produced.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4603" y="1938528"/>
            <a:ext cx="1572768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63827" y="180136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63827" y="1856232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043" y="210312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P&amp;ID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043" y="2414016"/>
            <a:ext cx="13898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Drawing arrives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3091" y="2350008"/>
            <a:ext cx="173736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360523" y="2221992"/>
            <a:ext cx="1645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52547" y="1938528"/>
            <a:ext cx="1572768" cy="8229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201771" y="180136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1771" y="1856232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3987" y="210312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Manual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3987" y="2414016"/>
            <a:ext cx="13898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2–4 hrs per sheet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83913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883913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71035" y="2350008"/>
            <a:ext cx="173736" cy="0"/>
          </a:xfrm>
          <a:prstGeom prst="line">
            <a:avLst/>
          </a:prstGeom>
          <a:ln w="152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98467" y="2221992"/>
            <a:ext cx="1645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DC2626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90491" y="1938528"/>
            <a:ext cx="1572768" cy="8229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039715" y="180136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39715" y="1856232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1931" y="210312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Spreadsheet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Created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1931" y="2414016"/>
            <a:ext cx="13898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System 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08979" y="2350008"/>
            <a:ext cx="173736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36411" y="2221992"/>
            <a:ext cx="1645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8435" y="1938528"/>
            <a:ext cx="1572768" cy="8229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877659" y="180136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77659" y="1856232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19875" y="2103120"/>
            <a:ext cx="138988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Email</a:t>
            </a:r>
            <a:r>
              <a:rPr lang="en-US" dirty="0"/>
              <a:t>s</a:t>
            </a:r>
            <a:r>
              <a:rPr dirty="0"/>
              <a:t> to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rPr lang="en-US" dirty="0"/>
              <a:t>Different </a:t>
            </a:r>
            <a:r>
              <a:rPr dirty="0"/>
              <a:t>Team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6319875" y="2414016"/>
            <a:ext cx="13898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Last week's file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559801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7559801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846923" y="2350008"/>
            <a:ext cx="173736" cy="0"/>
          </a:xfrm>
          <a:prstGeom prst="line">
            <a:avLst/>
          </a:prstGeom>
          <a:ln w="152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874355" y="2221992"/>
            <a:ext cx="1645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DC2626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66379" y="1938528"/>
            <a:ext cx="1572768" cy="8229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715603" y="180136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15603" y="1856232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7819" y="2103120"/>
            <a:ext cx="138988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Re-entered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rPr lang="en-US" dirty="0"/>
              <a:t>I</a:t>
            </a:r>
            <a:r>
              <a:rPr dirty="0"/>
              <a:t>nto</a:t>
            </a:r>
            <a:r>
              <a:rPr lang="en-US" dirty="0"/>
              <a:t> system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8157819" y="2414016"/>
            <a:ext cx="1389888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System B </a:t>
            </a:r>
            <a:r>
              <a:rPr lang="en-US" dirty="0"/>
              <a:t>-</a:t>
            </a:r>
            <a:r>
              <a:rPr dirty="0"/>
              <a:t> manual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397745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9397745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684867" y="2350008"/>
            <a:ext cx="173736" cy="0"/>
          </a:xfrm>
          <a:prstGeom prst="line">
            <a:avLst/>
          </a:prstGeom>
          <a:ln w="152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712299" y="2221992"/>
            <a:ext cx="1645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DC2626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04323" y="1938528"/>
            <a:ext cx="1572768" cy="8229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553547" y="1801368"/>
            <a:ext cx="274320" cy="27432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553547" y="1856232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95763" y="210312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Review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Meeting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95763" y="2414016"/>
            <a:ext cx="13898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Checks what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was checked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235689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1235689" y="2044598"/>
            <a:ext cx="153620" cy="153620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607411" y="294436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2–4 hrs of</a:t>
            </a:r>
          </a:p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specialist time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83299" y="294436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Wrong version</a:t>
            </a:r>
          </a:p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sent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21243" y="294436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Re-keyed</a:t>
            </a:r>
          </a:p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manually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59187" y="294436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Already checked</a:t>
            </a:r>
          </a:p>
          <a:p>
            <a:pPr algn="ctr">
              <a:defRPr sz="750" b="0" i="0">
                <a:solidFill>
                  <a:srgbClr val="DC2626"/>
                </a:solidFill>
                <a:latin typeface="Arial"/>
              </a:defRPr>
            </a:pPr>
            <a:r>
              <a:t>last phase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3913632"/>
            <a:ext cx="11030407" cy="713232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58368" y="3913632"/>
            <a:ext cx="45720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1248" y="4005072"/>
            <a:ext cx="10728655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0" i="0">
                <a:solidFill>
                  <a:srgbClr val="334155"/>
                </a:solidFill>
                <a:latin typeface="Arial"/>
              </a:defRPr>
            </a:pPr>
            <a:r>
              <a:rPr dirty="0"/>
              <a:t>The same instrument tag is entered 4–6 times across a single project.</a:t>
            </a:r>
          </a:p>
          <a:p>
            <a:pPr>
              <a:defRPr sz="1050" b="0" i="0">
                <a:solidFill>
                  <a:srgbClr val="334155"/>
                </a:solidFill>
                <a:latin typeface="Arial"/>
              </a:defRPr>
            </a:pPr>
            <a:r>
              <a:rPr dirty="0"/>
              <a:t>Discipline-to-discipline data transfer happens through disconnected files </a:t>
            </a:r>
            <a:r>
              <a:rPr lang="en-US" dirty="0"/>
              <a:t>-</a:t>
            </a:r>
            <a:r>
              <a:rPr dirty="0"/>
              <a:t> no traceability, no version control.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4800600"/>
            <a:ext cx="11030407" cy="1261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4" name="Connector 63"/>
          <p:cNvCxnSpPr/>
          <p:nvPr/>
        </p:nvCxnSpPr>
        <p:spPr>
          <a:xfrm>
            <a:off x="1325880" y="4919472"/>
            <a:ext cx="0" cy="117774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266993" y="4860585"/>
            <a:ext cx="117774" cy="11777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94537" y="5037246"/>
            <a:ext cx="462686" cy="336499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57631" y="5131465"/>
            <a:ext cx="84124" cy="8412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410004" y="5131465"/>
            <a:ext cx="84124" cy="84124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94537" y="5232415"/>
            <a:ext cx="462686" cy="117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 b="1" i="0">
                <a:solidFill>
                  <a:srgbClr val="475569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9856" y="5407394"/>
            <a:ext cx="572048" cy="370149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70"/>
          <p:cNvCxnSpPr/>
          <p:nvPr/>
        </p:nvCxnSpPr>
        <p:spPr>
          <a:xfrm>
            <a:off x="1138336" y="5062757"/>
            <a:ext cx="375088" cy="375088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1138336" y="5062757"/>
            <a:ext cx="375088" cy="375088"/>
          </a:xfrm>
          <a:prstGeom prst="line">
            <a:avLst/>
          </a:prstGeom>
          <a:ln w="2794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331720" y="4919472"/>
            <a:ext cx="41148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 i="1">
                <a:solidFill>
                  <a:srgbClr val="0F172A"/>
                </a:solidFill>
                <a:latin typeface="Arial"/>
              </a:defRPr>
            </a:pPr>
            <a:r>
              <a:t>"We'll use ChatGPT."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31720" y="532180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DC2626"/>
                </a:solidFill>
                <a:latin typeface="Arial"/>
              </a:defRPr>
            </a:pPr>
            <a:r>
              <a:t>Doesn't know ISA-5.1  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31720" y="555955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DC2626"/>
                </a:solidFill>
                <a:latin typeface="Arial"/>
              </a:defRPr>
            </a:pPr>
            <a:r>
              <a:t>Can't reliably read P&amp;IDs  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31720" y="5797296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DC2626"/>
                </a:solidFill>
                <a:latin typeface="Arial"/>
              </a:defRPr>
            </a:pPr>
            <a:r>
              <a:t>Client drawings can't go to a public AI  ✕</a:t>
            </a:r>
          </a:p>
        </p:txBody>
      </p:sp>
      <p:pic>
        <p:nvPicPr>
          <p:cNvPr id="77" name="Picture 76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0FFA833-8813-4EF6-F932-BF2D87F63D37}"/>
              </a:ext>
            </a:extLst>
          </p:cNvPr>
          <p:cNvSpPr txBox="1"/>
          <p:nvPr/>
        </p:nvSpPr>
        <p:spPr>
          <a:xfrm>
            <a:off x="11406433" y="6586469"/>
            <a:ext cx="60238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7600" y="1718335"/>
            <a:ext cx="4674752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30–50%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84048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800" b="0" i="0">
                <a:solidFill>
                  <a:srgbClr val="93C5FD"/>
                </a:solidFill>
                <a:latin typeface="Arial"/>
              </a:defRPr>
            </a:pPr>
            <a:r>
              <a:t>of your engineering budget</a:t>
            </a:r>
          </a:p>
          <a:p>
            <a:pPr algn="ctr">
              <a:defRPr sz="1800" b="0" i="0">
                <a:solidFill>
                  <a:srgbClr val="93C5FD"/>
                </a:solidFill>
                <a:latin typeface="Arial"/>
              </a:defRPr>
            </a:pPr>
            <a:r>
              <a:t>goes to clerical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24112"/>
            <a:ext cx="47548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Not engineering.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749808"/>
            <a:ext cx="592805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t>Where it goes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152144"/>
            <a:ext cx="59280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 i="0">
                <a:solidFill>
                  <a:srgbClr val="64748B"/>
                </a:solidFill>
                <a:latin typeface="Arial"/>
              </a:defRPr>
            </a:pPr>
            <a:r>
              <a:t>Breakdown of wasted engineering capacity on a typical EPC project: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627632"/>
            <a:ext cx="5928055" cy="987552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0720" y="1627632"/>
            <a:ext cx="45720" cy="9875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1719072"/>
            <a:ext cx="567202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Manual take-off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029968"/>
            <a:ext cx="5672023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2–4 hrs per P&amp;ID drawing, repeated across hundreds of drawings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2743200"/>
            <a:ext cx="5928055" cy="987552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5760720" y="2743200"/>
            <a:ext cx="45720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2834640"/>
            <a:ext cx="567202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Data re-entry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145536"/>
            <a:ext cx="5672023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Same instrument tag entered 4–6× across systems by different teams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3858768"/>
            <a:ext cx="5928055" cy="987552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60720" y="3858768"/>
            <a:ext cx="45720" cy="9875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3950208"/>
            <a:ext cx="567202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Discipline handoffs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261104"/>
            <a:ext cx="5672023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Emailed spreadsheets, wrong versions, no audit trail between teams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4974336"/>
            <a:ext cx="5928055" cy="987552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60720" y="4974336"/>
            <a:ext cx="45720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0" y="5065776"/>
            <a:ext cx="567202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0F172A"/>
                </a:solidFill>
                <a:latin typeface="Arial"/>
              </a:defRPr>
            </a:pPr>
            <a:r>
              <a:t>Review &amp; re-checking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376672"/>
            <a:ext cx="567202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rPr dirty="0"/>
              <a:t>Review phases repeat checks already done </a:t>
            </a:r>
            <a:r>
              <a:rPr lang="en-US" dirty="0"/>
              <a:t>-</a:t>
            </a:r>
            <a:r>
              <a:rPr dirty="0"/>
              <a:t> no shared engineering record</a:t>
            </a:r>
          </a:p>
        </p:txBody>
      </p:sp>
      <p:pic>
        <p:nvPicPr>
          <p:cNvPr id="29" name="Picture 28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223551" y="274320"/>
            <a:ext cx="602383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COST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9B2646-7E09-2C94-F49D-AE18AC47A9CD}"/>
              </a:ext>
            </a:extLst>
          </p:cNvPr>
          <p:cNvSpPr txBox="1"/>
          <p:nvPr/>
        </p:nvSpPr>
        <p:spPr>
          <a:xfrm>
            <a:off x="11406433" y="6586469"/>
            <a:ext cx="60238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 i="0">
                <a:solidFill>
                  <a:srgbClr val="0F172A"/>
                </a:solidFill>
                <a:latin typeface="Arial"/>
              </a:defRPr>
            </a:pPr>
            <a:r>
              <a:t>There is a better way.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371600"/>
            <a:ext cx="365760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87671" y="2015019"/>
            <a:ext cx="2749144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XYRA</a:t>
            </a:r>
            <a:r>
              <a:rPr lang="en-US" dirty="0"/>
              <a:t> AI</a:t>
            </a:r>
            <a:r>
              <a:rPr dirty="0"/>
              <a:t>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4263" y="2782676"/>
            <a:ext cx="385861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2563EB"/>
                </a:solidFill>
                <a:latin typeface="Arial"/>
              </a:defRPr>
            </a:pPr>
            <a:r>
              <a:rPr dirty="0"/>
              <a:t>Private AI for EPC Drawing Deliverables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2570"/>
            <a:ext cx="2578608" cy="2176272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642570"/>
            <a:ext cx="257860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373401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2563EB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044906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F172A"/>
                </a:solidFill>
                <a:latin typeface="Arial"/>
              </a:defRPr>
            </a:pPr>
            <a:r>
              <a:t>InstruMap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392378"/>
            <a:ext cx="2322576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Extract instrument tags, classify with ISA-5.1, map to lines, generate Index / IO List / Verification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642570"/>
            <a:ext cx="2578608" cy="2176272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0" y="3642570"/>
            <a:ext cx="2578608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02736" y="373401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0D948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4044906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F172A"/>
                </a:solidFill>
                <a:latin typeface="Arial"/>
              </a:defRPr>
            </a:pPr>
            <a:r>
              <a:t>Piping MTO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4392378"/>
            <a:ext cx="2322576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t>User-built component library + computer-vision detection across all drawings. EPC-style Excel output.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3645074"/>
            <a:ext cx="2578608" cy="2176272"/>
          </a:xfrm>
          <a:prstGeom prst="rect">
            <a:avLst/>
          </a:prstGeom>
          <a:solidFill>
            <a:srgbClr val="DBEAFE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91072" y="3645074"/>
            <a:ext cx="257860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736514"/>
            <a:ext cx="3657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1D4ED8"/>
                </a:solidFill>
                <a:latin typeface="Arial"/>
              </a:defRPr>
            </a:pPr>
            <a:r>
              <a:rPr dirty="0"/>
              <a:t>0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419088" y="4047410"/>
            <a:ext cx="2322576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F172A"/>
                </a:solidFill>
                <a:latin typeface="Arial"/>
              </a:defRPr>
            </a:pPr>
            <a:r>
              <a:t>Centralized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394882"/>
            <a:ext cx="2322576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rPr dirty="0"/>
              <a:t>PostgreSQL-backed engineering records </a:t>
            </a:r>
            <a:r>
              <a:rPr lang="en-US" dirty="0"/>
              <a:t>-</a:t>
            </a:r>
            <a:r>
              <a:rPr dirty="0"/>
              <a:t> instruments, loops, piping, IO </a:t>
            </a:r>
            <a:r>
              <a:rPr lang="en-US" dirty="0"/>
              <a:t>-</a:t>
            </a:r>
            <a:r>
              <a:rPr dirty="0"/>
              <a:t> shared across all disciplines.</a:t>
            </a:r>
          </a:p>
        </p:txBody>
      </p:sp>
      <p:pic>
        <p:nvPicPr>
          <p:cNvPr id="31" name="Picture 30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D251AF-21B2-62A8-CD00-7F941375ECF5}"/>
              </a:ext>
            </a:extLst>
          </p:cNvPr>
          <p:cNvSpPr txBox="1"/>
          <p:nvPr/>
        </p:nvSpPr>
        <p:spPr>
          <a:xfrm>
            <a:off x="11406433" y="6586469"/>
            <a:ext cx="60238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Confidential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EB56A2-5E0F-2911-364F-2D4BBB338136}"/>
              </a:ext>
            </a:extLst>
          </p:cNvPr>
          <p:cNvSpPr/>
          <p:nvPr/>
        </p:nvSpPr>
        <p:spPr>
          <a:xfrm>
            <a:off x="9107424" y="3629500"/>
            <a:ext cx="2578608" cy="2176272"/>
          </a:xfrm>
          <a:prstGeom prst="rect">
            <a:avLst/>
          </a:prstGeom>
          <a:solidFill>
            <a:srgbClr val="DBEAFE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78770-6E38-3A3C-34C4-1B8F96B348EE}"/>
              </a:ext>
            </a:extLst>
          </p:cNvPr>
          <p:cNvSpPr/>
          <p:nvPr/>
        </p:nvSpPr>
        <p:spPr>
          <a:xfrm>
            <a:off x="9107424" y="3629500"/>
            <a:ext cx="2578608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6E07E8-5956-A7AF-2797-58C7664763E4}"/>
              </a:ext>
            </a:extLst>
          </p:cNvPr>
          <p:cNvSpPr txBox="1"/>
          <p:nvPr/>
        </p:nvSpPr>
        <p:spPr>
          <a:xfrm>
            <a:off x="9235440" y="3720940"/>
            <a:ext cx="3657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 i="0">
                <a:solidFill>
                  <a:srgbClr val="1D4ED8"/>
                </a:solidFill>
                <a:latin typeface="Arial"/>
              </a:defRPr>
            </a:pPr>
            <a:r>
              <a:rPr dirty="0"/>
              <a:t>0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DAA194-58A4-0364-F0F8-54EF0819BA68}"/>
              </a:ext>
            </a:extLst>
          </p:cNvPr>
          <p:cNvSpPr txBox="1"/>
          <p:nvPr/>
        </p:nvSpPr>
        <p:spPr>
          <a:xfrm>
            <a:off x="9235440" y="4031836"/>
            <a:ext cx="232257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 i="0">
                <a:solidFill>
                  <a:srgbClr val="0F172A"/>
                </a:solidFill>
                <a:latin typeface="Arial"/>
              </a:defRPr>
            </a:pPr>
            <a:r>
              <a:rPr lang="en-US" dirty="0"/>
              <a:t>Custom AI Solutions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57FDF3-2405-4CAC-9CFC-8BFC0A255CA5}"/>
              </a:ext>
            </a:extLst>
          </p:cNvPr>
          <p:cNvSpPr txBox="1"/>
          <p:nvPr/>
        </p:nvSpPr>
        <p:spPr>
          <a:xfrm>
            <a:off x="9235440" y="4379308"/>
            <a:ext cx="2322576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 i="0">
                <a:solidFill>
                  <a:srgbClr val="334155"/>
                </a:solidFill>
                <a:latin typeface="Arial"/>
              </a:defRPr>
            </a:pPr>
            <a:r>
              <a:rPr lang="en-US" dirty="0"/>
              <a:t>Build custom engineering applications, automate project-specific workflows, fine-tune private AI models, and train systems using client standards, specifications, and historical project data.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i="0">
                <a:solidFill>
                  <a:srgbClr val="0F172A"/>
                </a:solidFill>
                <a:latin typeface="Arial"/>
              </a:defRPr>
            </a:pPr>
            <a:r>
              <a:t>This is how it works with XYRA.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One upload. Every tool. One structured output to all disciplines.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9175" y="2057400"/>
            <a:ext cx="233172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747875" y="192024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47875" y="1975104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615" y="222199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Upload P&amp;ID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615" y="2532888"/>
            <a:ext cx="214884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Drag &amp; drop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PDF </a:t>
            </a:r>
            <a:r>
              <a:rPr lang="en-US" dirty="0"/>
              <a:t>-</a:t>
            </a:r>
            <a:r>
              <a:rPr dirty="0"/>
              <a:t> any quality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96615" y="2674620"/>
            <a:ext cx="38404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34359" y="2546604"/>
            <a:ext cx="1645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6383" y="2057400"/>
            <a:ext cx="233172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55083" y="192024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55083" y="1975104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7823" y="222199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XYRA Extracts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7823" y="253288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ISA-5.1 decode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Line mapping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Service inference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03823" y="2674620"/>
            <a:ext cx="38404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41567" y="2546604"/>
            <a:ext cx="1645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3591" y="2057400"/>
            <a:ext cx="233172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362291" y="192024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62291" y="1975104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5031" y="222199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Engineer Reviews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5031" y="253288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Confidence flags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QA notes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One-click remove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11031" y="2674620"/>
            <a:ext cx="38404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948775" y="2546604"/>
            <a:ext cx="1645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0799" y="2057400"/>
            <a:ext cx="2331720" cy="123444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169499" y="192024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69499" y="1975104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2239" y="222199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Download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2239" y="2532888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Index · IO List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MTO · Line List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ZIP package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747875" y="3617366"/>
            <a:ext cx="104241" cy="131674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852116" y="3474720"/>
            <a:ext cx="170079" cy="274320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9175" y="38404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Drop PDFs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no prep needed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55083" y="3617366"/>
            <a:ext cx="104241" cy="131674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659324" y="3474720"/>
            <a:ext cx="170079" cy="274320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26383" y="3840480"/>
            <a:ext cx="2331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LLM + OCR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rPr dirty="0">
                <a:highlight>
                  <a:srgbClr val="FFFF00"/>
                </a:highlight>
              </a:rPr>
              <a:t>runs locally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62291" y="3617366"/>
            <a:ext cx="104241" cy="131674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466532" y="3474720"/>
            <a:ext cx="170079" cy="274320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333591" y="38404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Full audit trail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QA flagged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169499" y="3617366"/>
            <a:ext cx="104241" cy="131674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273740" y="3474720"/>
            <a:ext cx="170079" cy="274320"/>
          </a:xfrm>
          <a:prstGeom prst="line">
            <a:avLst/>
          </a:prstGeom>
          <a:ln w="279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0799" y="38404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Excel + ZIP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review-ready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645152"/>
            <a:ext cx="11030407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9536" y="4773168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 i="0">
                <a:solidFill>
                  <a:srgbClr val="DC2626"/>
                </a:solidFill>
                <a:latin typeface="Arial"/>
              </a:defRPr>
            </a:pPr>
            <a:r>
              <a:t>BEFORE XYRA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" y="5047488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1">
                <a:solidFill>
                  <a:srgbClr val="334155"/>
                </a:solidFill>
                <a:latin typeface="Arial"/>
              </a:defRPr>
            </a:pPr>
            <a:r>
              <a:t>Manual take-off  →  5 systems re-entered  →  email  →  wrong version  →  re-check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897880" y="4709160"/>
            <a:ext cx="0" cy="1581912"/>
          </a:xfrm>
          <a:prstGeom prst="line">
            <a:avLst/>
          </a:prstGeom>
          <a:ln w="762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053328" y="4773168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 i="0">
                <a:solidFill>
                  <a:srgbClr val="2563EB"/>
                </a:solidFill>
                <a:latin typeface="Arial"/>
              </a:defRPr>
            </a:pPr>
            <a:r>
              <a:t>WITH XYRA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3328" y="5047488"/>
            <a:ext cx="53949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1">
                <a:solidFill>
                  <a:srgbClr val="334155"/>
                </a:solidFill>
                <a:latin typeface="Arial"/>
              </a:defRPr>
            </a:pPr>
            <a:r>
              <a:t>Upload  →  XYRA reads  →  engineer reviews  →  structured outputs to all disciplines</a:t>
            </a:r>
          </a:p>
        </p:txBody>
      </p:sp>
      <p:pic>
        <p:nvPicPr>
          <p:cNvPr id="53" name="Picture 52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062078A-DDE1-72D8-777E-F10E5DBC7219}"/>
              </a:ext>
            </a:extLst>
          </p:cNvPr>
          <p:cNvSpPr txBox="1"/>
          <p:nvPr/>
        </p:nvSpPr>
        <p:spPr>
          <a:xfrm>
            <a:off x="11406433" y="6586469"/>
            <a:ext cx="60238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XYRA STUDIO  ·  LIVE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Compute fabric online.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t>8 / 8 services live  ·  4 custom AI engines  ·  18.7 GB models loaded  ·  100% health  ·  0 queue</a:t>
            </a:r>
          </a:p>
        </p:txBody>
      </p:sp>
      <p:pic>
        <p:nvPicPr>
          <p:cNvPr id="6" name="Picture 5" descr="xyra syste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1682496"/>
            <a:ext cx="10241280" cy="46058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E331CE-50DE-7E15-1307-3A8008EFA6BC}"/>
              </a:ext>
            </a:extLst>
          </p:cNvPr>
          <p:cNvSpPr txBox="1"/>
          <p:nvPr/>
        </p:nvSpPr>
        <p:spPr>
          <a:xfrm>
            <a:off x="11406433" y="6586469"/>
            <a:ext cx="60238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P&amp;ID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941832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XYRA reads the drawing</a:t>
            </a:r>
            <a:r>
              <a:rPr lang="en-US" dirty="0"/>
              <a:t> and prepares check print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Every instrument tag identified, classified, and linked to its </a:t>
            </a:r>
            <a:r>
              <a:rPr lang="en-US" dirty="0"/>
              <a:t>pipeline</a:t>
            </a:r>
            <a:r>
              <a:rPr dirty="0"/>
              <a:t> number.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4758A4-B75F-A58A-E55F-46223430FCCE}"/>
              </a:ext>
            </a:extLst>
          </p:cNvPr>
          <p:cNvSpPr txBox="1"/>
          <p:nvPr/>
        </p:nvSpPr>
        <p:spPr>
          <a:xfrm>
            <a:off x="11406433" y="6586469"/>
            <a:ext cx="60238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Confidential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A696C9-21E1-B533-3C10-3357BD394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334" y="1750215"/>
            <a:ext cx="7230484" cy="41439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INSTRUMENTATION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t>Every instrument.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Instrument Index </a:t>
            </a:r>
            <a:r>
              <a:rPr lang="en-US" dirty="0"/>
              <a:t>-</a:t>
            </a:r>
            <a:r>
              <a:rPr dirty="0"/>
              <a:t> tags · loops · ISA type · service description · IO type · P&amp;ID reference · QA review flags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3EA117-292E-F7D6-C7EC-37331CE416C4}"/>
              </a:ext>
            </a:extLst>
          </p:cNvPr>
          <p:cNvSpPr txBox="1"/>
          <p:nvPr/>
        </p:nvSpPr>
        <p:spPr>
          <a:xfrm>
            <a:off x="11406433" y="6586469"/>
            <a:ext cx="60238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Confidential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0421BB-72C5-2A66-D160-F017E1E45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534" y="1727817"/>
            <a:ext cx="9221612" cy="43729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PIPING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315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 i="0">
                <a:solidFill>
                  <a:srgbClr val="0F172A"/>
                </a:solidFill>
                <a:latin typeface="Arial"/>
              </a:defRPr>
            </a:pPr>
            <a:r>
              <a:t>Every line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72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Line List </a:t>
            </a:r>
            <a:r>
              <a:rPr lang="en-US" dirty="0"/>
              <a:t>-</a:t>
            </a:r>
            <a:r>
              <a:rPr dirty="0"/>
              <a:t> pipe numbers · sizes · fluid codes · insulation spec · area codes · coordinates · P&amp;ID source</a:t>
            </a:r>
          </a:p>
        </p:txBody>
      </p:sp>
      <p:pic>
        <p:nvPicPr>
          <p:cNvPr id="7" name="Picture 6" descr="line_list_outpu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67742"/>
            <a:ext cx="10748065" cy="45679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2E514F-159A-5576-EF4A-A07547E1E642}"/>
              </a:ext>
            </a:extLst>
          </p:cNvPr>
          <p:cNvSpPr txBox="1"/>
          <p:nvPr/>
        </p:nvSpPr>
        <p:spPr>
          <a:xfrm>
            <a:off x="11406433" y="6586469"/>
            <a:ext cx="60238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PIPING MTO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i="0">
                <a:solidFill>
                  <a:srgbClr val="0F172A"/>
                </a:solidFill>
                <a:latin typeface="Arial"/>
              </a:defRPr>
            </a:pPr>
            <a:r>
              <a:t>Select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XYRA finds every instance </a:t>
            </a:r>
            <a:r>
              <a:rPr lang="en-US" dirty="0"/>
              <a:t>-</a:t>
            </a:r>
            <a:r>
              <a:rPr dirty="0"/>
              <a:t> across every page, every rotation, with size extraction.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938631" y="2029968"/>
            <a:ext cx="182880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15871" y="18928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15871" y="1947672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071" y="21945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Select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0071" y="2505456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Draw a box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around any symbol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13151" y="2432304"/>
            <a:ext cx="20116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68015" y="2304288"/>
            <a:ext cx="1645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0039" y="2029968"/>
            <a:ext cx="182880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837279" y="18928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37279" y="1947672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1479" y="21945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Save to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Library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1479" y="2505456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Auto-trimmed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thumbnail stored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4559" y="2432304"/>
            <a:ext cx="20116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89423" y="2304288"/>
            <a:ext cx="1645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81447" y="2029968"/>
            <a:ext cx="182880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58687" y="18928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58687" y="1947672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2887" y="21945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Run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2887" y="2505456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Computer vision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across all pages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5967" y="2432304"/>
            <a:ext cx="20116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10831" y="2304288"/>
            <a:ext cx="1645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2855" y="2029968"/>
            <a:ext cx="182880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080095" y="18928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80095" y="1947672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4295" y="21945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Review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4295" y="2505456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Remove false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positives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77375" y="2432304"/>
            <a:ext cx="201168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232239" y="2304288"/>
            <a:ext cx="16459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0" i="0">
                <a:solidFill>
                  <a:srgbClr val="E2E8F0"/>
                </a:solidFill>
                <a:latin typeface="Arial"/>
              </a:defRPr>
            </a:pPr>
            <a: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24263" y="2029968"/>
            <a:ext cx="1828800" cy="804672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201503" y="1892808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01503" y="1947672"/>
            <a:ext cx="274320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15703" y="21945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Export</a:t>
            </a:r>
          </a:p>
          <a:p>
            <a:pPr algn="ctr">
              <a:defRPr sz="1000" b="1" i="0">
                <a:solidFill>
                  <a:srgbClr val="0F172A"/>
                </a:solidFill>
                <a:latin typeface="Arial"/>
              </a:defRPr>
            </a:pPr>
            <a:r>
              <a:t>Package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15703" y="2505456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MTO · Register</a:t>
            </a:r>
          </a:p>
          <a:p>
            <a:pPr algn="ctr">
              <a:defRPr sz="850" b="0" i="0">
                <a:solidFill>
                  <a:srgbClr val="64748B"/>
                </a:solidFill>
                <a:latin typeface="Arial"/>
              </a:defRPr>
            </a:pPr>
            <a:r>
              <a:t>QA · Excel ZIP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37774" y="3218688"/>
            <a:ext cx="4282068" cy="301752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mto_checkpri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334" y="3127248"/>
            <a:ext cx="4282068" cy="30175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790688" y="3154680"/>
            <a:ext cx="389808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 i="0">
                <a:solidFill>
                  <a:srgbClr val="94A3B8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6731" y="3493008"/>
            <a:ext cx="2468880" cy="13716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mt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291" y="3401568"/>
            <a:ext cx="2468880" cy="13716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790688" y="49834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 i="0">
                <a:solidFill>
                  <a:srgbClr val="0D9488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0768" y="5029200"/>
            <a:ext cx="31665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components detected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90688" y="5458968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 i="0">
                <a:solidFill>
                  <a:srgbClr val="0D94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0768" y="5504688"/>
            <a:ext cx="31665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drawing processed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90688" y="5934456"/>
            <a:ext cx="548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 i="0">
                <a:solidFill>
                  <a:srgbClr val="0D948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0768" y="5980176"/>
            <a:ext cx="316656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0" i="0">
                <a:solidFill>
                  <a:srgbClr val="64748B"/>
                </a:solidFill>
                <a:latin typeface="Arial"/>
              </a:defRPr>
            </a:pPr>
            <a:r>
              <a:t>component type</a:t>
            </a:r>
          </a:p>
        </p:txBody>
      </p:sp>
      <p:pic>
        <p:nvPicPr>
          <p:cNvPr id="52" name="Picture 5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PIPING MTO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B84CAB-B8DA-4D41-0383-48D5DFEFE564}"/>
              </a:ext>
            </a:extLst>
          </p:cNvPr>
          <p:cNvSpPr txBox="1"/>
          <p:nvPr/>
        </p:nvSpPr>
        <p:spPr>
          <a:xfrm>
            <a:off x="11406433" y="6586469"/>
            <a:ext cx="60238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i="0">
                <a:solidFill>
                  <a:srgbClr val="0F172A"/>
                </a:solidFill>
                <a:latin typeface="Arial"/>
              </a:defRPr>
            </a:pPr>
            <a:r>
              <a:rPr lang="en-US" dirty="0"/>
              <a:t>Beyond Products – Engineering Automation Services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58368" y="2168063"/>
            <a:ext cx="3117008" cy="248716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58368" y="2168062"/>
            <a:ext cx="311700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" y="2378374"/>
            <a:ext cx="25328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rPr lang="en-US" dirty="0"/>
              <a:t>Engineering Tool Automation</a:t>
            </a:r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3955876" y="2168062"/>
            <a:ext cx="3547872" cy="2487169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955876" y="2168062"/>
            <a:ext cx="354787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94716" y="2369230"/>
            <a:ext cx="31821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rPr lang="en-US" sz="1400" b="1" dirty="0"/>
              <a:t>Engineering Data Management</a:t>
            </a:r>
            <a:endParaRPr dirty="0"/>
          </a:p>
        </p:txBody>
      </p:sp>
      <p:sp>
        <p:nvSpPr>
          <p:cNvPr id="51" name="Rectangle 50"/>
          <p:cNvSpPr/>
          <p:nvPr/>
        </p:nvSpPr>
        <p:spPr>
          <a:xfrm>
            <a:off x="7599760" y="2168062"/>
            <a:ext cx="3547872" cy="2487169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599760" y="2168062"/>
            <a:ext cx="354787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82640" y="2364098"/>
            <a:ext cx="31821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rPr lang="en-US" sz="1400" b="1" dirty="0"/>
              <a:t>AI-Powered Engineering Solutions</a:t>
            </a:r>
            <a:endParaRPr dirty="0"/>
          </a:p>
        </p:txBody>
      </p:sp>
      <p:pic>
        <p:nvPicPr>
          <p:cNvPr id="72" name="Picture 71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PILOT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86C902-27FD-B656-134C-30D713A4A4E0}"/>
              </a:ext>
            </a:extLst>
          </p:cNvPr>
          <p:cNvSpPr txBox="1"/>
          <p:nvPr/>
        </p:nvSpPr>
        <p:spPr>
          <a:xfrm>
            <a:off x="11393423" y="6547491"/>
            <a:ext cx="60238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C39EB-D972-1CC9-F20D-6F74572A5EF0}"/>
              </a:ext>
            </a:extLst>
          </p:cNvPr>
          <p:cNvSpPr txBox="1"/>
          <p:nvPr/>
        </p:nvSpPr>
        <p:spPr>
          <a:xfrm>
            <a:off x="841249" y="2852743"/>
            <a:ext cx="2624327" cy="17089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dirty="0"/>
              <a:t>Custom DLLs and add-ins for Hexagon SmartPlant tools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dirty="0"/>
              <a:t>SmartPlant Instrumentation (SPI) automation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dirty="0"/>
              <a:t>Smart 3D (S3D) workflow automation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dirty="0"/>
              <a:t>Smart P&amp;ID data extraction and validation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dirty="0"/>
              <a:t>Custom engineering productivity tools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4D270-CE9A-7556-6494-0984AC350757}"/>
              </a:ext>
            </a:extLst>
          </p:cNvPr>
          <p:cNvSpPr txBox="1"/>
          <p:nvPr/>
        </p:nvSpPr>
        <p:spPr>
          <a:xfrm>
            <a:off x="4170760" y="2818220"/>
            <a:ext cx="2761487" cy="1124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sz="950" dirty="0"/>
              <a:t>Engineering database migration and cleansing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sz="950" dirty="0"/>
              <a:t>Bulk data loading and validation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sz="950" dirty="0"/>
              <a:t>Legacy data digitization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sz="950" dirty="0"/>
              <a:t>Intelligent document processing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623B7-C585-28D7-7A63-D7FEE90E76F7}"/>
              </a:ext>
            </a:extLst>
          </p:cNvPr>
          <p:cNvSpPr txBox="1"/>
          <p:nvPr/>
        </p:nvSpPr>
        <p:spPr>
          <a:xfrm>
            <a:off x="7814644" y="2815885"/>
            <a:ext cx="2939796" cy="1124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sz="950" dirty="0"/>
              <a:t>Private/on-premise AI assistants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sz="950" dirty="0"/>
              <a:t>Custom AI models trained on engineering data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sz="950" dirty="0"/>
              <a:t>Drawing intelligence and knowledge extraction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lang="en-US" sz="950" dirty="0"/>
              <a:t>Engineering document search and Q&amp;A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7FB97-1D7B-6BD9-5E85-5AC6747BA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XYRA(PNG).png">
            <a:extLst>
              <a:ext uri="{FF2B5EF4-FFF2-40B4-BE49-F238E27FC236}">
                <a16:creationId xmlns:a16="http://schemas.microsoft.com/office/drawing/2014/main" id="{624CDF63-AEF1-126A-5EEA-75B13DFE4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43DBB2-E3A1-E87A-EB3F-3818B7FBAFB5}"/>
              </a:ext>
            </a:extLst>
          </p:cNvPr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PILOT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757295-DE25-92C0-61FE-5E18A965460F}"/>
              </a:ext>
            </a:extLst>
          </p:cNvPr>
          <p:cNvSpPr txBox="1"/>
          <p:nvPr/>
        </p:nvSpPr>
        <p:spPr>
          <a:xfrm>
            <a:off x="658368" y="7132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 i="0">
                <a:solidFill>
                  <a:srgbClr val="0F172A"/>
                </a:solidFill>
                <a:latin typeface="Arial"/>
              </a:defRPr>
            </a:pPr>
            <a:r>
              <a:t>Two weeks. One answer.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84CE-D092-8CB5-D524-1286247AE0B7}"/>
              </a:ext>
            </a:extLst>
          </p:cNvPr>
          <p:cNvSpPr txBox="1"/>
          <p:nvPr/>
        </p:nvSpPr>
        <p:spPr>
          <a:xfrm>
            <a:off x="658368" y="1371600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t>A structured pilot gives your team a clear decision: time saved, output quality, and deployment fit.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390BD7-651F-A276-8832-0C642A0582C6}"/>
              </a:ext>
            </a:extLst>
          </p:cNvPr>
          <p:cNvSpPr/>
          <p:nvPr/>
        </p:nvSpPr>
        <p:spPr>
          <a:xfrm>
            <a:off x="734263" y="1856233"/>
            <a:ext cx="3117008" cy="3456432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423254-E7BE-F590-1ED5-B6B0CA01E6BB}"/>
              </a:ext>
            </a:extLst>
          </p:cNvPr>
          <p:cNvSpPr/>
          <p:nvPr/>
        </p:nvSpPr>
        <p:spPr>
          <a:xfrm>
            <a:off x="734263" y="1856231"/>
            <a:ext cx="3117008" cy="5486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90404B-1828-9BF4-53EA-E210B097BC5E}"/>
              </a:ext>
            </a:extLst>
          </p:cNvPr>
          <p:cNvSpPr txBox="1"/>
          <p:nvPr/>
        </p:nvSpPr>
        <p:spPr>
          <a:xfrm>
            <a:off x="932382" y="2345630"/>
            <a:ext cx="318211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 i="0">
                <a:solidFill>
                  <a:srgbClr val="2563EB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FD7743-92FA-D5D2-EEA7-1FDC4E5CB73D}"/>
              </a:ext>
            </a:extLst>
          </p:cNvPr>
          <p:cNvSpPr txBox="1"/>
          <p:nvPr/>
        </p:nvSpPr>
        <p:spPr>
          <a:xfrm>
            <a:off x="932382" y="2592518"/>
            <a:ext cx="31821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Configure &amp; Load</a:t>
            </a:r>
          </a:p>
        </p:txBody>
      </p: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99367C9D-9DDC-D3A1-BD4D-73CC46430C91}"/>
              </a:ext>
            </a:extLst>
          </p:cNvPr>
          <p:cNvCxnSpPr/>
          <p:nvPr/>
        </p:nvCxnSpPr>
        <p:spPr>
          <a:xfrm>
            <a:off x="932382" y="3273563"/>
            <a:ext cx="83393" cy="105339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12BD5026-38D6-11C5-BE86-F79FDC519BB3}"/>
              </a:ext>
            </a:extLst>
          </p:cNvPr>
          <p:cNvCxnSpPr/>
          <p:nvPr/>
        </p:nvCxnSpPr>
        <p:spPr>
          <a:xfrm flipV="1">
            <a:off x="1015775" y="3159446"/>
            <a:ext cx="136063" cy="219456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ADBC47-BF32-7FBD-1E40-644DCC937EEB}"/>
              </a:ext>
            </a:extLst>
          </p:cNvPr>
          <p:cNvSpPr txBox="1"/>
          <p:nvPr/>
        </p:nvSpPr>
        <p:spPr>
          <a:xfrm>
            <a:off x="1279854" y="3141158"/>
            <a:ext cx="29077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Deploy on client server or test VM</a:t>
            </a:r>
          </a:p>
        </p:txBody>
      </p:sp>
      <p:cxnSp>
        <p:nvCxnSpPr>
          <p:cNvPr id="21" name="Connector 20">
            <a:extLst>
              <a:ext uri="{FF2B5EF4-FFF2-40B4-BE49-F238E27FC236}">
                <a16:creationId xmlns:a16="http://schemas.microsoft.com/office/drawing/2014/main" id="{F8E5E991-117C-7772-7228-E30DFA0CD202}"/>
              </a:ext>
            </a:extLst>
          </p:cNvPr>
          <p:cNvCxnSpPr/>
          <p:nvPr/>
        </p:nvCxnSpPr>
        <p:spPr>
          <a:xfrm>
            <a:off x="932382" y="3712475"/>
            <a:ext cx="83393" cy="105339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>
            <a:extLst>
              <a:ext uri="{FF2B5EF4-FFF2-40B4-BE49-F238E27FC236}">
                <a16:creationId xmlns:a16="http://schemas.microsoft.com/office/drawing/2014/main" id="{D5792B53-EDFA-EC72-D6FC-2CFAAE43472B}"/>
              </a:ext>
            </a:extLst>
          </p:cNvPr>
          <p:cNvCxnSpPr/>
          <p:nvPr/>
        </p:nvCxnSpPr>
        <p:spPr>
          <a:xfrm flipV="1">
            <a:off x="1015775" y="3598358"/>
            <a:ext cx="136063" cy="219456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CDA153D-7B7D-385B-46B1-2864FF31B5F4}"/>
              </a:ext>
            </a:extLst>
          </p:cNvPr>
          <p:cNvSpPr txBox="1"/>
          <p:nvPr/>
        </p:nvSpPr>
        <p:spPr>
          <a:xfrm>
            <a:off x="1279854" y="3580070"/>
            <a:ext cx="29077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Load project legend + title block context</a:t>
            </a:r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375D6810-54B7-2121-7E8F-8564C4E06CE5}"/>
              </a:ext>
            </a:extLst>
          </p:cNvPr>
          <p:cNvCxnSpPr/>
          <p:nvPr/>
        </p:nvCxnSpPr>
        <p:spPr>
          <a:xfrm>
            <a:off x="932382" y="4151387"/>
            <a:ext cx="83393" cy="105339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85F8C31F-7848-DD8F-8CB3-E24D4886CC35}"/>
              </a:ext>
            </a:extLst>
          </p:cNvPr>
          <p:cNvCxnSpPr/>
          <p:nvPr/>
        </p:nvCxnSpPr>
        <p:spPr>
          <a:xfrm flipV="1">
            <a:off x="1015775" y="4037270"/>
            <a:ext cx="136063" cy="219456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01B38AD-AF3D-1C4F-C3D4-DF85E454A4D8}"/>
              </a:ext>
            </a:extLst>
          </p:cNvPr>
          <p:cNvSpPr txBox="1"/>
          <p:nvPr/>
        </p:nvSpPr>
        <p:spPr>
          <a:xfrm>
            <a:off x="1279854" y="4018982"/>
            <a:ext cx="29077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Configure instrument model + MTO library</a:t>
            </a: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BE169B4C-858C-46A0-55A8-AE4E6A818248}"/>
              </a:ext>
            </a:extLst>
          </p:cNvPr>
          <p:cNvCxnSpPr/>
          <p:nvPr/>
        </p:nvCxnSpPr>
        <p:spPr>
          <a:xfrm>
            <a:off x="932382" y="4590299"/>
            <a:ext cx="83393" cy="105339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>
            <a:extLst>
              <a:ext uri="{FF2B5EF4-FFF2-40B4-BE49-F238E27FC236}">
                <a16:creationId xmlns:a16="http://schemas.microsoft.com/office/drawing/2014/main" id="{BA2B5756-60BA-11B8-459E-E7A49F19A267}"/>
              </a:ext>
            </a:extLst>
          </p:cNvPr>
          <p:cNvCxnSpPr/>
          <p:nvPr/>
        </p:nvCxnSpPr>
        <p:spPr>
          <a:xfrm flipV="1">
            <a:off x="1015775" y="4476182"/>
            <a:ext cx="136063" cy="219456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ED2F095-71C4-B31F-453E-CF4CE9C70BEC}"/>
              </a:ext>
            </a:extLst>
          </p:cNvPr>
          <p:cNvSpPr txBox="1"/>
          <p:nvPr/>
        </p:nvSpPr>
        <p:spPr>
          <a:xfrm>
            <a:off x="1279854" y="4457893"/>
            <a:ext cx="290779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dirty="0"/>
              <a:t>Run first extraction pass </a:t>
            </a:r>
            <a:r>
              <a:rPr lang="en-US" dirty="0"/>
              <a:t>-</a:t>
            </a:r>
            <a:r>
              <a:rPr dirty="0"/>
              <a:t> calibrate output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78D407-EAB9-A2C0-D33D-041D04F8AC44}"/>
              </a:ext>
            </a:extLst>
          </p:cNvPr>
          <p:cNvSpPr/>
          <p:nvPr/>
        </p:nvSpPr>
        <p:spPr>
          <a:xfrm>
            <a:off x="4184294" y="1856233"/>
            <a:ext cx="3547872" cy="3456432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A21350-D5AE-6397-5162-61C54A4D987D}"/>
              </a:ext>
            </a:extLst>
          </p:cNvPr>
          <p:cNvSpPr/>
          <p:nvPr/>
        </p:nvSpPr>
        <p:spPr>
          <a:xfrm>
            <a:off x="4184294" y="1856232"/>
            <a:ext cx="354787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9FDAC7-80B8-469F-18C9-4F0FF1F0B65F}"/>
              </a:ext>
            </a:extLst>
          </p:cNvPr>
          <p:cNvSpPr txBox="1"/>
          <p:nvPr/>
        </p:nvSpPr>
        <p:spPr>
          <a:xfrm>
            <a:off x="4382413" y="2345630"/>
            <a:ext cx="318211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 i="0">
                <a:solidFill>
                  <a:srgbClr val="0D9488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449AEE-783F-2F7C-FD4A-37AD3A48F643}"/>
              </a:ext>
            </a:extLst>
          </p:cNvPr>
          <p:cNvSpPr txBox="1"/>
          <p:nvPr/>
        </p:nvSpPr>
        <p:spPr>
          <a:xfrm>
            <a:off x="4382413" y="2592518"/>
            <a:ext cx="31821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Validate &amp; Compare</a:t>
            </a:r>
          </a:p>
        </p:txBody>
      </p:sp>
      <p:cxnSp>
        <p:nvCxnSpPr>
          <p:cNvPr id="39" name="Connector 38">
            <a:extLst>
              <a:ext uri="{FF2B5EF4-FFF2-40B4-BE49-F238E27FC236}">
                <a16:creationId xmlns:a16="http://schemas.microsoft.com/office/drawing/2014/main" id="{EF5D0C39-F892-7804-5E97-A41732355171}"/>
              </a:ext>
            </a:extLst>
          </p:cNvPr>
          <p:cNvCxnSpPr/>
          <p:nvPr/>
        </p:nvCxnSpPr>
        <p:spPr>
          <a:xfrm>
            <a:off x="4382413" y="3273563"/>
            <a:ext cx="83393" cy="105339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>
            <a:extLst>
              <a:ext uri="{FF2B5EF4-FFF2-40B4-BE49-F238E27FC236}">
                <a16:creationId xmlns:a16="http://schemas.microsoft.com/office/drawing/2014/main" id="{266E47E7-6E22-D6FB-5F33-5F212CF5FEC2}"/>
              </a:ext>
            </a:extLst>
          </p:cNvPr>
          <p:cNvCxnSpPr/>
          <p:nvPr/>
        </p:nvCxnSpPr>
        <p:spPr>
          <a:xfrm flipV="1">
            <a:off x="4465806" y="3159446"/>
            <a:ext cx="136063" cy="219456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58A4FAD-2159-4118-342F-BDD43AC6F54F}"/>
              </a:ext>
            </a:extLst>
          </p:cNvPr>
          <p:cNvSpPr txBox="1"/>
          <p:nvPr/>
        </p:nvSpPr>
        <p:spPr>
          <a:xfrm>
            <a:off x="4729885" y="3141158"/>
            <a:ext cx="29077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Process 20–50 representative P&amp;IDs</a:t>
            </a:r>
          </a:p>
        </p:txBody>
      </p: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708C6830-E7F8-BF15-AFE4-FFC2A008B847}"/>
              </a:ext>
            </a:extLst>
          </p:cNvPr>
          <p:cNvCxnSpPr/>
          <p:nvPr/>
        </p:nvCxnSpPr>
        <p:spPr>
          <a:xfrm>
            <a:off x="4382413" y="3712475"/>
            <a:ext cx="83393" cy="105339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7027A98E-2E87-8191-8CEB-045CE7B70EEC}"/>
              </a:ext>
            </a:extLst>
          </p:cNvPr>
          <p:cNvCxnSpPr/>
          <p:nvPr/>
        </p:nvCxnSpPr>
        <p:spPr>
          <a:xfrm flipV="1">
            <a:off x="4465806" y="3598358"/>
            <a:ext cx="136063" cy="219456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A067540-DBAA-B902-B118-FC7DCBFD5DDD}"/>
              </a:ext>
            </a:extLst>
          </p:cNvPr>
          <p:cNvSpPr txBox="1"/>
          <p:nvPr/>
        </p:nvSpPr>
        <p:spPr>
          <a:xfrm>
            <a:off x="4729885" y="3580070"/>
            <a:ext cx="29077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Compare XYRA output vs manual workflow</a:t>
            </a:r>
          </a:p>
        </p:txBody>
      </p:sp>
      <p:cxnSp>
        <p:nvCxnSpPr>
          <p:cNvPr id="45" name="Connector 44">
            <a:extLst>
              <a:ext uri="{FF2B5EF4-FFF2-40B4-BE49-F238E27FC236}">
                <a16:creationId xmlns:a16="http://schemas.microsoft.com/office/drawing/2014/main" id="{1B7752FA-1DAF-F121-015E-C2EAC3E46DD0}"/>
              </a:ext>
            </a:extLst>
          </p:cNvPr>
          <p:cNvCxnSpPr/>
          <p:nvPr/>
        </p:nvCxnSpPr>
        <p:spPr>
          <a:xfrm>
            <a:off x="4382413" y="4151387"/>
            <a:ext cx="83393" cy="105339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71333E4D-7547-7C3E-E9A2-9AB233D6247D}"/>
              </a:ext>
            </a:extLst>
          </p:cNvPr>
          <p:cNvCxnSpPr/>
          <p:nvPr/>
        </p:nvCxnSpPr>
        <p:spPr>
          <a:xfrm flipV="1">
            <a:off x="4465806" y="4037270"/>
            <a:ext cx="136063" cy="219456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4690591-55ED-D396-46C5-CFF170C6FC89}"/>
              </a:ext>
            </a:extLst>
          </p:cNvPr>
          <p:cNvSpPr txBox="1"/>
          <p:nvPr/>
        </p:nvSpPr>
        <p:spPr>
          <a:xfrm>
            <a:off x="4729885" y="4018982"/>
            <a:ext cx="29077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Review Instrument Index, IO List, MTO</a:t>
            </a:r>
          </a:p>
        </p:txBody>
      </p:sp>
      <p:cxnSp>
        <p:nvCxnSpPr>
          <p:cNvPr id="48" name="Connector 47">
            <a:extLst>
              <a:ext uri="{FF2B5EF4-FFF2-40B4-BE49-F238E27FC236}">
                <a16:creationId xmlns:a16="http://schemas.microsoft.com/office/drawing/2014/main" id="{73B81F6E-9D9A-C308-0B03-8A0C079C6E44}"/>
              </a:ext>
            </a:extLst>
          </p:cNvPr>
          <p:cNvCxnSpPr/>
          <p:nvPr/>
        </p:nvCxnSpPr>
        <p:spPr>
          <a:xfrm>
            <a:off x="4382413" y="4590299"/>
            <a:ext cx="83393" cy="105339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>
            <a:extLst>
              <a:ext uri="{FF2B5EF4-FFF2-40B4-BE49-F238E27FC236}">
                <a16:creationId xmlns:a16="http://schemas.microsoft.com/office/drawing/2014/main" id="{6A1434E8-C60C-5BE2-9FE9-3E7597A38795}"/>
              </a:ext>
            </a:extLst>
          </p:cNvPr>
          <p:cNvCxnSpPr/>
          <p:nvPr/>
        </p:nvCxnSpPr>
        <p:spPr>
          <a:xfrm flipV="1">
            <a:off x="4465806" y="4476182"/>
            <a:ext cx="136063" cy="219456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0E41D09-4AFB-A658-A64A-BF3ED439B442}"/>
              </a:ext>
            </a:extLst>
          </p:cNvPr>
          <p:cNvSpPr txBox="1"/>
          <p:nvPr/>
        </p:nvSpPr>
        <p:spPr>
          <a:xfrm>
            <a:off x="4729885" y="4457893"/>
            <a:ext cx="2907792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rPr dirty="0"/>
              <a:t>Identify gaps </a:t>
            </a:r>
            <a:r>
              <a:rPr lang="en-US" dirty="0"/>
              <a:t>-</a:t>
            </a:r>
            <a:r>
              <a:rPr dirty="0"/>
              <a:t> tune detection settings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9B0AB28-0268-65C6-470B-88A61651FEFC}"/>
              </a:ext>
            </a:extLst>
          </p:cNvPr>
          <p:cNvSpPr/>
          <p:nvPr/>
        </p:nvSpPr>
        <p:spPr>
          <a:xfrm>
            <a:off x="7940040" y="1856233"/>
            <a:ext cx="3547872" cy="3456432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3E61076-60BE-12E9-143E-CE47DB05D2E5}"/>
              </a:ext>
            </a:extLst>
          </p:cNvPr>
          <p:cNvSpPr/>
          <p:nvPr/>
        </p:nvSpPr>
        <p:spPr>
          <a:xfrm>
            <a:off x="7940040" y="1856232"/>
            <a:ext cx="354787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71D035-6242-04E8-339A-4E3370304ED1}"/>
              </a:ext>
            </a:extLst>
          </p:cNvPr>
          <p:cNvSpPr txBox="1"/>
          <p:nvPr/>
        </p:nvSpPr>
        <p:spPr>
          <a:xfrm>
            <a:off x="8138159" y="2345630"/>
            <a:ext cx="3182112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 i="0">
                <a:solidFill>
                  <a:srgbClr val="1D4ED8"/>
                </a:solidFill>
                <a:latin typeface="Arial"/>
              </a:defRPr>
            </a:pPr>
            <a:r>
              <a:t>DECISION PACK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3C2A26-D23C-3B51-338B-37B44AAE1555}"/>
              </a:ext>
            </a:extLst>
          </p:cNvPr>
          <p:cNvSpPr txBox="1"/>
          <p:nvPr/>
        </p:nvSpPr>
        <p:spPr>
          <a:xfrm>
            <a:off x="8138159" y="2592518"/>
            <a:ext cx="3182112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 i="0">
                <a:solidFill>
                  <a:srgbClr val="0F172A"/>
                </a:solidFill>
                <a:latin typeface="Arial"/>
              </a:defRPr>
            </a:pPr>
            <a:r>
              <a:t>Delivered at Close</a:t>
            </a:r>
          </a:p>
        </p:txBody>
      </p:sp>
      <p:cxnSp>
        <p:nvCxnSpPr>
          <p:cNvPr id="60" name="Connector 59">
            <a:extLst>
              <a:ext uri="{FF2B5EF4-FFF2-40B4-BE49-F238E27FC236}">
                <a16:creationId xmlns:a16="http://schemas.microsoft.com/office/drawing/2014/main" id="{462CC948-123F-37B4-571F-3F052C2A544E}"/>
              </a:ext>
            </a:extLst>
          </p:cNvPr>
          <p:cNvCxnSpPr/>
          <p:nvPr/>
        </p:nvCxnSpPr>
        <p:spPr>
          <a:xfrm>
            <a:off x="8138159" y="3273563"/>
            <a:ext cx="83393" cy="105339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>
            <a:extLst>
              <a:ext uri="{FF2B5EF4-FFF2-40B4-BE49-F238E27FC236}">
                <a16:creationId xmlns:a16="http://schemas.microsoft.com/office/drawing/2014/main" id="{8948F576-82F0-03D2-626D-A10CF3E263E2}"/>
              </a:ext>
            </a:extLst>
          </p:cNvPr>
          <p:cNvCxnSpPr/>
          <p:nvPr/>
        </p:nvCxnSpPr>
        <p:spPr>
          <a:xfrm flipV="1">
            <a:off x="8221552" y="3159446"/>
            <a:ext cx="136063" cy="219456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6BE2885-558B-6FE1-EB71-52FCEFDD2520}"/>
              </a:ext>
            </a:extLst>
          </p:cNvPr>
          <p:cNvSpPr txBox="1"/>
          <p:nvPr/>
        </p:nvSpPr>
        <p:spPr>
          <a:xfrm>
            <a:off x="8485631" y="3141158"/>
            <a:ext cx="29077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Coverage summary + exception log</a:t>
            </a:r>
          </a:p>
        </p:txBody>
      </p:sp>
      <p:cxnSp>
        <p:nvCxnSpPr>
          <p:cNvPr id="63" name="Connector 62">
            <a:extLst>
              <a:ext uri="{FF2B5EF4-FFF2-40B4-BE49-F238E27FC236}">
                <a16:creationId xmlns:a16="http://schemas.microsoft.com/office/drawing/2014/main" id="{5F8BEEA2-595D-5DFE-6CCF-52DE2CB4B9D0}"/>
              </a:ext>
            </a:extLst>
          </p:cNvPr>
          <p:cNvCxnSpPr/>
          <p:nvPr/>
        </p:nvCxnSpPr>
        <p:spPr>
          <a:xfrm>
            <a:off x="8138159" y="3712475"/>
            <a:ext cx="83393" cy="105339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>
            <a:extLst>
              <a:ext uri="{FF2B5EF4-FFF2-40B4-BE49-F238E27FC236}">
                <a16:creationId xmlns:a16="http://schemas.microsoft.com/office/drawing/2014/main" id="{F66B0236-1740-766B-384D-49122445D0B4}"/>
              </a:ext>
            </a:extLst>
          </p:cNvPr>
          <p:cNvCxnSpPr/>
          <p:nvPr/>
        </p:nvCxnSpPr>
        <p:spPr>
          <a:xfrm flipV="1">
            <a:off x="8221552" y="3598358"/>
            <a:ext cx="136063" cy="219456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361CC43-6F43-4A3F-5656-4CAB73EDA717}"/>
              </a:ext>
            </a:extLst>
          </p:cNvPr>
          <p:cNvSpPr txBox="1"/>
          <p:nvPr/>
        </p:nvSpPr>
        <p:spPr>
          <a:xfrm>
            <a:off x="8485631" y="3580070"/>
            <a:ext cx="29077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Time-saving estimate vs manual baseline</a:t>
            </a:r>
          </a:p>
        </p:txBody>
      </p: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29EEF1D1-5210-8170-8805-52D61A221BDF}"/>
              </a:ext>
            </a:extLst>
          </p:cNvPr>
          <p:cNvCxnSpPr/>
          <p:nvPr/>
        </p:nvCxnSpPr>
        <p:spPr>
          <a:xfrm>
            <a:off x="8138159" y="4151387"/>
            <a:ext cx="83393" cy="105339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>
            <a:extLst>
              <a:ext uri="{FF2B5EF4-FFF2-40B4-BE49-F238E27FC236}">
                <a16:creationId xmlns:a16="http://schemas.microsoft.com/office/drawing/2014/main" id="{0D3106D6-2DCD-37F8-348E-2C40F8225EDB}"/>
              </a:ext>
            </a:extLst>
          </p:cNvPr>
          <p:cNvCxnSpPr/>
          <p:nvPr/>
        </p:nvCxnSpPr>
        <p:spPr>
          <a:xfrm flipV="1">
            <a:off x="8221552" y="4037270"/>
            <a:ext cx="136063" cy="219456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5DF28DC-12D3-67A5-8066-9F35F4608839}"/>
              </a:ext>
            </a:extLst>
          </p:cNvPr>
          <p:cNvSpPr txBox="1"/>
          <p:nvPr/>
        </p:nvSpPr>
        <p:spPr>
          <a:xfrm>
            <a:off x="8485631" y="4018982"/>
            <a:ext cx="29077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Deployment checklist for production</a:t>
            </a:r>
          </a:p>
        </p:txBody>
      </p: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8DACFA10-FB50-E4EF-561C-EDB8026274F8}"/>
              </a:ext>
            </a:extLst>
          </p:cNvPr>
          <p:cNvCxnSpPr/>
          <p:nvPr/>
        </p:nvCxnSpPr>
        <p:spPr>
          <a:xfrm>
            <a:off x="8138159" y="4590299"/>
            <a:ext cx="83393" cy="105339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>
            <a:extLst>
              <a:ext uri="{FF2B5EF4-FFF2-40B4-BE49-F238E27FC236}">
                <a16:creationId xmlns:a16="http://schemas.microsoft.com/office/drawing/2014/main" id="{79CC7420-1010-4836-B963-C75367789627}"/>
              </a:ext>
            </a:extLst>
          </p:cNvPr>
          <p:cNvCxnSpPr/>
          <p:nvPr/>
        </p:nvCxnSpPr>
        <p:spPr>
          <a:xfrm flipV="1">
            <a:off x="8221552" y="4476182"/>
            <a:ext cx="136063" cy="219456"/>
          </a:xfrm>
          <a:prstGeom prst="line">
            <a:avLst/>
          </a:prstGeom>
          <a:ln w="279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82D06F8-0F98-1B61-5675-BDD4E45F98DF}"/>
              </a:ext>
            </a:extLst>
          </p:cNvPr>
          <p:cNvSpPr txBox="1"/>
          <p:nvPr/>
        </p:nvSpPr>
        <p:spPr>
          <a:xfrm>
            <a:off x="8485631" y="4457893"/>
            <a:ext cx="29077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 i="0">
                <a:solidFill>
                  <a:srgbClr val="334155"/>
                </a:solidFill>
                <a:latin typeface="Arial"/>
              </a:defRPr>
            </a:pPr>
            <a:r>
              <a:t>Monthly license proposal</a:t>
            </a:r>
          </a:p>
        </p:txBody>
      </p:sp>
      <p:pic>
        <p:nvPicPr>
          <p:cNvPr id="72" name="Picture 71" descr="XYRA(PNG).png">
            <a:extLst>
              <a:ext uri="{FF2B5EF4-FFF2-40B4-BE49-F238E27FC236}">
                <a16:creationId xmlns:a16="http://schemas.microsoft.com/office/drawing/2014/main" id="{143B6852-5EE0-7856-85A5-1A9B95B95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"/>
            <a:ext cx="1157003" cy="310896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67A9C41E-6A37-44BC-D9D1-C9EF59F8DF44}"/>
              </a:ext>
            </a:extLst>
          </p:cNvPr>
          <p:cNvSpPr txBox="1"/>
          <p:nvPr/>
        </p:nvSpPr>
        <p:spPr>
          <a:xfrm>
            <a:off x="7436815" y="2743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THE PILOT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1438E14-A42F-0E02-C3EF-ED94E5BB03D9}"/>
              </a:ext>
            </a:extLst>
          </p:cNvPr>
          <p:cNvSpPr txBox="1"/>
          <p:nvPr/>
        </p:nvSpPr>
        <p:spPr>
          <a:xfrm>
            <a:off x="11393423" y="6547491"/>
            <a:ext cx="60238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850" b="0" i="0">
                <a:solidFill>
                  <a:srgbClr val="94A3B8"/>
                </a:solidFill>
                <a:latin typeface="Arial"/>
              </a:defRPr>
            </a:pPr>
            <a:r>
              <a:rPr dirty="0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1244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XYRA(PNG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789" y="1097280"/>
            <a:ext cx="2450124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1548" y="1883664"/>
            <a:ext cx="1127729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6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Ready to see XYRA</a:t>
            </a:r>
          </a:p>
          <a:p>
            <a:pPr algn="ctr">
              <a:defRPr sz="4600" b="1" i="0">
                <a:solidFill>
                  <a:srgbClr val="0F172A"/>
                </a:solidFill>
                <a:latin typeface="Arial"/>
              </a:defRPr>
            </a:pPr>
            <a:r>
              <a:rPr dirty="0"/>
              <a:t>on your drawings?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86200" y="3712463"/>
            <a:ext cx="4507992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97150" y="3998154"/>
            <a:ext cx="6547104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We deploy inside your network, run XYRA on your drawing package,</a:t>
            </a:r>
          </a:p>
          <a:p>
            <a:pPr algn="ctr">
              <a:defRPr sz="1300" b="0" i="0">
                <a:solidFill>
                  <a:srgbClr val="64748B"/>
                </a:solidFill>
                <a:latin typeface="Arial"/>
              </a:defRPr>
            </a:pPr>
            <a:r>
              <a:rPr dirty="0"/>
              <a:t>and deliver structured outputs your team evaluates against the manual baseline.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1371" y="4661610"/>
            <a:ext cx="310896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785059" y="4862778"/>
            <a:ext cx="2743200" cy="192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 i="0">
                <a:solidFill>
                  <a:srgbClr val="FFFFFF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Schedule a Pilot Run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935</Words>
  <Application>Microsoft Macintosh PowerPoint</Application>
  <PresentationFormat>Widescreen</PresentationFormat>
  <Paragraphs>237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Thipparthi, Prashanth (Bilfinger)</dc:creator>
  <cp:keywords/>
  <dc:description>generated using python-pptx</dc:description>
  <cp:lastModifiedBy>Prashanth Thipparthi</cp:lastModifiedBy>
  <cp:revision>20</cp:revision>
  <dcterms:created xsi:type="dcterms:W3CDTF">2013-01-27T09:14:16Z</dcterms:created>
  <dcterms:modified xsi:type="dcterms:W3CDTF">2026-06-04T15:28:30Z</dcterms:modified>
  <cp:category/>
</cp:coreProperties>
</file>