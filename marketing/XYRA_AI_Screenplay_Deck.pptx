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25" y="1234440"/>
            <a:ext cx="3062655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59152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200" b="1" i="0">
                <a:solidFill>
                  <a:srgbClr val="0F172A"/>
                </a:solidFill>
                <a:latin typeface="Arial"/>
              </a:defRPr>
            </a:pPr>
            <a:r>
              <a:t>XYRA Studio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3401568"/>
            <a:ext cx="450799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547872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 i="0">
                <a:solidFill>
                  <a:srgbClr val="2563EB"/>
                </a:solidFill>
                <a:latin typeface="Arial"/>
              </a:defRPr>
            </a:pPr>
            <a:r>
              <a:t>Private AI for EPC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79779" y="4315968"/>
            <a:ext cx="266090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7795" y="4379976"/>
            <a:ext cx="24048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P&amp;ID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5003" y="4315968"/>
            <a:ext cx="17007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3019" y="437997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0107" y="4315968"/>
            <a:ext cx="30723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8123" y="4379976"/>
            <a:ext cx="28163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Centralized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6811" y="4315968"/>
            <a:ext cx="17007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4827" y="437997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On-Premise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P&amp;ID extraction  ·  Piping MTO  ·  PDF review  ·  Centralized project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0" y="6291072"/>
            <a:ext cx="12191695" cy="0"/>
          </a:xfrm>
          <a:prstGeom prst="line">
            <a:avLst/>
          </a:prstGeom>
          <a:ln w="762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 i="0">
                <a:solidFill>
                  <a:srgbClr val="94A3B8"/>
                </a:solidFill>
                <a:latin typeface="Arial"/>
              </a:defRPr>
            </a:pPr>
            <a:r>
              <a:t>Prepared for  [ EPC Client ]  ·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695" y="64556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PEOPLE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2  /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85800"/>
            <a:ext cx="91440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Meet the people XYRA was built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Instrumentation and piping engineers who spend most of their day on data — not decisions.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1828800"/>
            <a:ext cx="10874959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4479" y="2304288"/>
            <a:ext cx="793698" cy="79369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7786" y="3140505"/>
            <a:ext cx="907084" cy="5385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7786" y="3707432"/>
            <a:ext cx="311810" cy="3685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3060" y="3707432"/>
            <a:ext cx="311810" cy="3685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16097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Instrumentation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2730399" y="2304288"/>
            <a:ext cx="793698" cy="79369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3706" y="3140505"/>
            <a:ext cx="907084" cy="53858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3706" y="3707432"/>
            <a:ext cx="311810" cy="36850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8980" y="3707432"/>
            <a:ext cx="311810" cy="36850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416097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Piping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84831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94A3B8"/>
                </a:solidFill>
                <a:latin typeface="Arial"/>
              </a:defRPr>
            </a:pPr>
            <a:r>
              <a:t>WHERE THE HOURS ACTUALLY 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9572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Manual P&amp;ID take-off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99248" y="2432304"/>
            <a:ext cx="62179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08608" y="239572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3.5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0906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Data re-entry across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3127248"/>
            <a:ext cx="4441371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32059" y="309067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2.5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8561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Cross-discipline file transfers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99248" y="3822192"/>
            <a:ext cx="2664822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5510" y="3785616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1.5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8056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Review &amp; re-checking same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9248" y="4517136"/>
            <a:ext cx="2131858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2546" y="448056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1.2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755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Actual engineering decisions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99248" y="5212080"/>
            <a:ext cx="1421238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1926" y="51755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0.8 hrs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63440" y="5888736"/>
            <a:ext cx="69494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63440" y="598932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Less than 1 hour of an 8-hour workday is spent on actual engineering decisions.</a:t>
            </a:r>
          </a:p>
        </p:txBody>
      </p:sp>
      <p:pic>
        <p:nvPicPr>
          <p:cNvPr id="37" name="Picture 36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PEOPLE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3  /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858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This is how engineering data moves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From the moment a P&amp;ID is issued to the moment a deliverable is produced.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603" y="1938528"/>
            <a:ext cx="1572768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3827" y="18013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3827" y="185623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043" y="21031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P&amp;ID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043" y="241401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Drawing arrives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3091" y="2350008"/>
            <a:ext cx="173736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60523" y="2221992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2547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1771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1771" y="185623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3987" y="21031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Manual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3987" y="241401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2–4 hrs per sheet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3913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883913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71035" y="2350008"/>
            <a:ext cx="173736" cy="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98467" y="2221992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DC2626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0491" y="1938528"/>
            <a:ext cx="1572768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39715" y="18013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9715" y="185623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1931" y="21031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Spreadsheet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Created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1931" y="241401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System 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8979" y="2350008"/>
            <a:ext cx="173736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6411" y="2221992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8435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7659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7659" y="185623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9875" y="21031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Email to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Piping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9875" y="241401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Last week's file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59801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559801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46923" y="2350008"/>
            <a:ext cx="173736" cy="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874355" y="2221992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DC2626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6379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15603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5603" y="185623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7819" y="21031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Re-entered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into PDMS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7819" y="241401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System B — manual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97745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397745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84867" y="2350008"/>
            <a:ext cx="173736" cy="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712299" y="2221992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DC2626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04323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553547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53547" y="185623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95763" y="21031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Review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Meeting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5763" y="2414016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Checks what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was checked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235689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1235689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607411" y="294436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2–4 hrs of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specialist 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3299" y="294436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Wrong version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sent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1243" y="294436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Re-keyed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manually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59187" y="294436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Already checked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last phase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3913632"/>
            <a:ext cx="11030407" cy="71323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368" y="3913632"/>
            <a:ext cx="45720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" y="4005072"/>
            <a:ext cx="10728655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The same instrument tag is entered 4–6 times across a single project.</a:t>
            </a:r>
          </a:p>
          <a:p>
            <a:pPr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t>Discipline-to-discipline data transfer happens through disconnected files — no traceability, no version control.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4800600"/>
            <a:ext cx="11030407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325880" y="4919472"/>
            <a:ext cx="0" cy="117774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266993" y="4860585"/>
            <a:ext cx="117774" cy="11777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94537" y="5037246"/>
            <a:ext cx="462686" cy="336499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57631" y="5131465"/>
            <a:ext cx="84124" cy="8412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410004" y="5131465"/>
            <a:ext cx="84124" cy="8412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4537" y="5232415"/>
            <a:ext cx="462686" cy="1177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 i="0">
                <a:solidFill>
                  <a:srgbClr val="475569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9856" y="5407394"/>
            <a:ext cx="572048" cy="370149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138336" y="5062757"/>
            <a:ext cx="375088" cy="375088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38336" y="5062757"/>
            <a:ext cx="375088" cy="375088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331720" y="4919472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1">
                <a:solidFill>
                  <a:srgbClr val="0F172A"/>
                </a:solidFill>
                <a:latin typeface="Arial"/>
              </a:defRPr>
            </a:pPr>
            <a:r>
              <a:t>"We'll use ChatGPT."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1720" y="532180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DC2626"/>
                </a:solidFill>
                <a:latin typeface="Arial"/>
              </a:defRPr>
            </a:pPr>
            <a:r>
              <a:t>Doesn't know ISA-5.1  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55595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DC2626"/>
                </a:solidFill>
                <a:latin typeface="Arial"/>
              </a:defRPr>
            </a:pPr>
            <a:r>
              <a:t>Can't reliably read P&amp;IDs  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20" y="579729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DC2626"/>
                </a:solidFill>
                <a:latin typeface="Arial"/>
              </a:defRPr>
            </a:pPr>
            <a:r>
              <a:t>Client drawings can't go to a public AI  ✕</a:t>
            </a:r>
          </a:p>
        </p:txBody>
      </p:sp>
      <p:pic>
        <p:nvPicPr>
          <p:cNvPr id="77" name="Picture 76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PROBLEM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4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0" b="1" i="0">
                <a:solidFill>
                  <a:srgbClr val="FFFFFF"/>
                </a:solidFill>
                <a:latin typeface="Arial"/>
              </a:defRPr>
            </a:pPr>
            <a:r>
              <a:t>30–50%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8404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 i="0">
                <a:solidFill>
                  <a:srgbClr val="93C5FD"/>
                </a:solidFill>
                <a:latin typeface="Arial"/>
              </a:defRPr>
            </a:pPr>
            <a:r>
              <a:t>of your engineering budget</a:t>
            </a:r>
          </a:p>
          <a:p>
            <a:pPr algn="ctr">
              <a:defRPr sz="1800" b="0" i="0">
                <a:solidFill>
                  <a:srgbClr val="93C5FD"/>
                </a:solidFill>
                <a:latin typeface="Arial"/>
              </a:defRPr>
            </a:pPr>
            <a:r>
              <a:t>goes to clerical work.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828032"/>
            <a:ext cx="4206240" cy="0"/>
          </a:xfrm>
          <a:prstGeom prst="line">
            <a:avLst/>
          </a:prstGeom>
          <a:ln w="1016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974336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Not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749808"/>
            <a:ext cx="59280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t>Where it goes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152144"/>
            <a:ext cx="59280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Breakdown of wasted engineering capacity on a typical EPC project: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627632"/>
            <a:ext cx="5928055" cy="98755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627632"/>
            <a:ext cx="45720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719072"/>
            <a:ext cx="567202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Manual take-off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29968"/>
            <a:ext cx="567202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2–4 hrs per P&amp;ID drawing, repeated across hundreds of drawings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743200"/>
            <a:ext cx="5928055" cy="987552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2743200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834640"/>
            <a:ext cx="567202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Data re-entry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145536"/>
            <a:ext cx="567202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Same instrument tag entered 4–6× across systems by different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858768"/>
            <a:ext cx="5928055" cy="98755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3858768"/>
            <a:ext cx="45720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950208"/>
            <a:ext cx="567202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Discipline handoffs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61104"/>
            <a:ext cx="567202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Emailed spreadsheets, wrong versions, no audit trail between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974336"/>
            <a:ext cx="5928055" cy="987552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4974336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5065776"/>
            <a:ext cx="567202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Review &amp; re-checking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76672"/>
            <a:ext cx="567202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Review phases repeat checks already done — no shared engineering record</a:t>
            </a:r>
          </a:p>
        </p:txBody>
      </p:sp>
      <p:pic>
        <p:nvPicPr>
          <p:cNvPr id="29" name="Picture 28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COST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5  /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There is a better way.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365760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642" y="1737360"/>
            <a:ext cx="2790419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6974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t>XYRA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0128"/>
            <a:ext cx="112772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2563EB"/>
                </a:solidFill>
                <a:latin typeface="Arial"/>
              </a:defRPr>
            </a:pPr>
            <a:r>
              <a:t>Private AI for EPC Drawing 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015" y="3950208"/>
            <a:ext cx="2578608" cy="21762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015" y="3950208"/>
            <a:ext cx="257860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031" y="4041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31" y="4352544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InstruMap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31" y="4700016"/>
            <a:ext cx="2322576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Extract instrument tags, classify with ISA-5.1, map to lines, generate Index / IO List / Verification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8367" y="3950208"/>
            <a:ext cx="2578608" cy="2176272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8367" y="3950208"/>
            <a:ext cx="257860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6383" y="4041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6383" y="4352544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6383" y="4700016"/>
            <a:ext cx="2322576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User-built component library + computer-vision detection across all drawings. EPC-style Excel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4719" y="3950208"/>
            <a:ext cx="2578608" cy="2176272"/>
          </a:xfrm>
          <a:prstGeom prst="rect">
            <a:avLst/>
          </a:prstGeom>
          <a:solidFill>
            <a:srgbClr val="F8FAFC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4719" y="3950208"/>
            <a:ext cx="2578608" cy="5486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2735" y="4041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47556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2735" y="4352544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PrecisionPDF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5" y="4700016"/>
            <a:ext cx="2322576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Full PDF viewer with annotation tools, text search, minimap, and thumbnail navigation built 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1071" y="3950208"/>
            <a:ext cx="2578608" cy="2176272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1071" y="3950208"/>
            <a:ext cx="257860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9087" y="4041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4ED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9087" y="4352544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Centralized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9087" y="4700016"/>
            <a:ext cx="2322576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PostgreSQL-backed engineering records — instruments, loops, piping, IO — shared across all disciplines.</a:t>
            </a:r>
          </a:p>
        </p:txBody>
      </p:sp>
      <p:pic>
        <p:nvPicPr>
          <p:cNvPr id="31" name="Picture 30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SOLUTION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HOW IT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6  /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This is how it works with XYRA.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One upload. Every tool. One structured output to all disciplines.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19175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47875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7875" y="1975104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615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Upload P&amp;ID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15" y="25328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Drag &amp; drop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PDF — any quality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6615" y="2674620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4359" y="2546604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6383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5083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5083" y="1975104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823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XYRA Extracts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7823" y="25328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ISA-5.1 decode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Line mapping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Service inference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03823" y="2674620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1567" y="2546604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3591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2291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2291" y="1975104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5031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Engineer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031" y="25328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Confidence flags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QA notes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One-click remove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11031" y="2674620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948775" y="2546604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0799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69499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9499" y="1975104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2239" y="22219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Download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2239" y="2532888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Index · IO List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MTO · Line List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ZIP package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747875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52116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9175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Drop PDFs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no prep needed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55083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59324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26383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LLM + OCR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runs locally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62291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466532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33591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Full audit trail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QA flagged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169499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273740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0799" y="3840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Excel + ZIP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review-ready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645152"/>
            <a:ext cx="11030407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" y="477316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DC2626"/>
                </a:solidFill>
                <a:latin typeface="Arial"/>
              </a:defRPr>
            </a:pPr>
            <a:r>
              <a:t>BEFORE XYRA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5047488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1">
                <a:solidFill>
                  <a:srgbClr val="334155"/>
                </a:solidFill>
                <a:latin typeface="Arial"/>
              </a:defRPr>
            </a:pPr>
            <a:r>
              <a:t>Manual take-off  →  5 systems re-entered  →  email  →  wrong version  →  re-check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97880" y="4709160"/>
            <a:ext cx="0" cy="1581912"/>
          </a:xfrm>
          <a:prstGeom prst="line">
            <a:avLst/>
          </a:prstGeom>
          <a:ln w="762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53328" y="477316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2563EB"/>
                </a:solidFill>
                <a:latin typeface="Arial"/>
              </a:defRPr>
            </a:pPr>
            <a:r>
              <a:t>WITH XYRA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047488"/>
            <a:ext cx="5394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1">
                <a:solidFill>
                  <a:srgbClr val="334155"/>
                </a:solidFill>
                <a:latin typeface="Arial"/>
              </a:defRPr>
            </a:pPr>
            <a:r>
              <a:t>Upload  →  XYRA reads  →  engineer reviews  →  structured outputs to all disciplines</a:t>
            </a:r>
          </a:p>
        </p:txBody>
      </p:sp>
      <p:pic>
        <p:nvPicPr>
          <p:cNvPr id="53" name="Picture 5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HOW IT WORKS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XYRA STUDIO  ·  LIVE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t>Compute fabric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8 / 8 services live  ·  4 custom AI engines  ·  18.7 GB models loaded  ·  100% health  ·  0 queue</a:t>
            </a:r>
          </a:p>
        </p:txBody>
      </p:sp>
      <p:pic>
        <p:nvPicPr>
          <p:cNvPr id="6" name="Picture 5" descr="xyra syste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4963"/>
            <a:ext cx="12191695" cy="5483037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P&amp;ID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t>XYRA reads the drawing.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Every instrument tag identified, classified, and linked to its pipe line number.</a:t>
            </a:r>
          </a:p>
        </p:txBody>
      </p:sp>
      <p:pic>
        <p:nvPicPr>
          <p:cNvPr id="6" name="Picture 5" descr="checkprint_from system_epc_leve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360" y="1719072"/>
            <a:ext cx="7324975" cy="5138928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INSTRUMENTATION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t>Every instrument.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6128" y="65836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2563EB"/>
                </a:solidFill>
                <a:latin typeface="Arial"/>
              </a:defRPr>
            </a:pPr>
            <a:r>
              <a:t>Structured.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Instrument Index — tags · loops · ISA type · service description · IO type · P&amp;ID reference · QA review flags</a:t>
            </a:r>
          </a:p>
        </p:txBody>
      </p:sp>
      <p:pic>
        <p:nvPicPr>
          <p:cNvPr id="7" name="Picture 6" descr="Instrumenet_index_outpu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1640"/>
            <a:ext cx="12191695" cy="549473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PIPING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t>Every line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65836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D9488"/>
                </a:solidFill>
                <a:latin typeface="Arial"/>
              </a:defRPr>
            </a:pPr>
            <a:r>
              <a:t>Mapped.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Line List — pipe numbers · sizes · fluid codes · insulation spec · area codes · coordinates · P&amp;ID source</a:t>
            </a:r>
          </a:p>
        </p:txBody>
      </p:sp>
      <p:pic>
        <p:nvPicPr>
          <p:cNvPr id="7" name="Picture 6" descr="line_list_outpu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1640"/>
            <a:ext cx="12191695" cy="518147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PIPING MTO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11  /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Select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XYRA finds every instance — across every page, every rotation, with size extraction.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8631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5871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5871" y="194767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071" y="2194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Select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071" y="250545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Draw a box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around any symbol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13151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8015" y="230428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0039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37279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7279" y="194767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1479" y="2194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Save to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Library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1479" y="250545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Auto-trimmed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thumbnail stored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4559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89423" y="230428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81447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58687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8687" y="194767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2887" y="2194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Run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2887" y="250545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Computer vision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across all pages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5967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10831" y="230428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2855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80095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0095" y="194767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4295" y="2194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Review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4295" y="250545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Remove false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positives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77375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32239" y="2304288"/>
            <a:ext cx="1645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4263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01503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01503" y="1947672"/>
            <a:ext cx="2743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5703" y="2194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Export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5703" y="250545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MTO · Register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QA · Excel ZIP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7774" y="3218688"/>
            <a:ext cx="4282068" cy="301752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to_checkpri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334" y="3127248"/>
            <a:ext cx="4282068" cy="30175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790688" y="3154680"/>
            <a:ext cx="38980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94A3B8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6731" y="3493008"/>
            <a:ext cx="2468880" cy="13716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mt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1" y="3401568"/>
            <a:ext cx="2468880" cy="1371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90688" y="4983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5029200"/>
            <a:ext cx="3166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components detected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0688" y="5458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0768" y="5504688"/>
            <a:ext cx="3166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drawing processed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90688" y="59344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5980176"/>
            <a:ext cx="3166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component type</a:t>
            </a:r>
          </a:p>
        </p:txBody>
      </p:sp>
      <p:pic>
        <p:nvPicPr>
          <p:cNvPr id="52" name="Picture 5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PIPING MTO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12  /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Two weeks. One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A structured pilot gives your team a clear decision: time saved, output quality, and deployment fit.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45920" y="2029968"/>
            <a:ext cx="3547872" cy="4133087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2029968"/>
            <a:ext cx="35478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9910" y="2212848"/>
            <a:ext cx="419892" cy="4198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9918" y="2655234"/>
            <a:ext cx="479876" cy="28492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9918" y="2955157"/>
            <a:ext cx="164956" cy="1949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4838" y="2955157"/>
            <a:ext cx="164956" cy="1949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246120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2563EB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93008"/>
            <a:ext cx="3182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Configure &amp; Load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3913632"/>
            <a:ext cx="318211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4174053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12193" y="4059936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6272" y="4041648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Deploy on client server or test VM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28800" y="4612965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12193" y="4498848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76272" y="4480560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Load project legend + title block context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5051877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912193" y="4937760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76272" y="491947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Configure instrument model + MTO library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5490789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12193" y="5376672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76272" y="5358383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Run first extraction pass — calibrate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029968"/>
            <a:ext cx="3547872" cy="4133087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2029968"/>
            <a:ext cx="354787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590" y="2212848"/>
            <a:ext cx="419892" cy="4198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4598" y="2655234"/>
            <a:ext cx="479876" cy="284927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34598" y="2955157"/>
            <a:ext cx="164956" cy="1949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49518" y="2955157"/>
            <a:ext cx="164956" cy="1949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3246120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0D9488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493008"/>
            <a:ext cx="3182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Validate &amp; Compare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83480" y="3913632"/>
            <a:ext cx="318211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83480" y="4174053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066873" y="4059936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30952" y="4041648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Process 20–50 representative P&amp;IDs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83480" y="4612965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066873" y="4498848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30952" y="4480560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Compare XYRA output vs manual workflow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83480" y="5051877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066873" y="4937760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30952" y="491947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Review Instrument Index, IO List, MTO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983480" y="5490789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066873" y="5376672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30952" y="5358383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Identify gaps — tune detection settings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2029968"/>
            <a:ext cx="3547872" cy="4133087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55279" y="2029968"/>
            <a:ext cx="35478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19269" y="2212848"/>
            <a:ext cx="419892" cy="41989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89277" y="2655234"/>
            <a:ext cx="479876" cy="284927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89277" y="2955157"/>
            <a:ext cx="164956" cy="1949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04197" y="2955157"/>
            <a:ext cx="164956" cy="1949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59" y="3246120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 i="0">
                <a:solidFill>
                  <a:srgbClr val="1D4ED8"/>
                </a:solidFill>
                <a:latin typeface="Arial"/>
              </a:defRPr>
            </a:pPr>
            <a:r>
              <a:t>DECISION PACK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59" y="3493008"/>
            <a:ext cx="3182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Delivered at Close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138159" y="3913632"/>
            <a:ext cx="3182112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38159" y="4174053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221552" y="4059936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85631" y="4041648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Coverage summary + exception log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138159" y="4612965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221552" y="4498848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85631" y="4480560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Time-saving estimate vs manual baseline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138159" y="5051877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1552" y="4937760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485631" y="491947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Deployment checklist for production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138159" y="5490789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221552" y="5376672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485631" y="5358383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Monthly license proposal</a:t>
            </a:r>
          </a:p>
        </p:txBody>
      </p:sp>
      <p:pic>
        <p:nvPicPr>
          <p:cNvPr id="72" name="Picture 7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PILOT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58368" y="6492240"/>
            <a:ext cx="11030407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774375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 i="0">
                <a:solidFill>
                  <a:srgbClr val="94A3B8"/>
                </a:solidFill>
                <a:latin typeface="Arial"/>
              </a:defRPr>
            </a:pPr>
            <a: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789" y="1097280"/>
            <a:ext cx="2450124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121408"/>
            <a:ext cx="112772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600" b="1" i="0">
                <a:solidFill>
                  <a:srgbClr val="0F172A"/>
                </a:solidFill>
                <a:latin typeface="Arial"/>
              </a:defRPr>
            </a:pPr>
            <a:r>
              <a:t>Ready to see XYRA</a:t>
            </a:r>
          </a:p>
          <a:p>
            <a:pPr algn="ctr">
              <a:defRPr sz="4600" b="1" i="0">
                <a:solidFill>
                  <a:srgbClr val="0F172A"/>
                </a:solidFill>
                <a:latin typeface="Arial"/>
              </a:defRPr>
            </a:pPr>
            <a:r>
              <a:t>on your drawings?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4133087"/>
            <a:ext cx="450799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297680"/>
            <a:ext cx="1127729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We deploy inside your network, run XYRA on your drawing package,</a:t>
            </a:r>
          </a:p>
          <a:p>
            <a:pPr algn="ctr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and deliver structured outputs your team evaluates against the manual 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1367" y="5166360"/>
            <a:ext cx="31089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528523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Schedule a Pilot Run  →</a:t>
            </a:r>
          </a:p>
        </p:txBody>
      </p:sp>
      <p:sp>
        <p:nvSpPr>
          <p:cNvPr id="10" name="Oval 9"/>
          <p:cNvSpPr/>
          <p:nvPr/>
        </p:nvSpPr>
        <p:spPr>
          <a:xfrm>
            <a:off x="3021178" y="5715000"/>
            <a:ext cx="358444" cy="3584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5575" y="6092646"/>
            <a:ext cx="409650" cy="24323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5575" y="6348677"/>
            <a:ext cx="140816" cy="1664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9" y="6348677"/>
            <a:ext cx="140816" cy="1664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655350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Instrumentation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919826" y="5715000"/>
            <a:ext cx="358444" cy="3584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4223" y="6092646"/>
            <a:ext cx="409650" cy="24323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4223" y="6348677"/>
            <a:ext cx="140816" cy="1664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7" y="6348677"/>
            <a:ext cx="140816" cy="1664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655350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Piping</a:t>
            </a:r>
          </a:p>
        </p:txBody>
      </p:sp>
      <p:sp>
        <p:nvSpPr>
          <p:cNvPr id="20" name="Oval 19"/>
          <p:cNvSpPr/>
          <p:nvPr/>
        </p:nvSpPr>
        <p:spPr>
          <a:xfrm>
            <a:off x="8809330" y="5715000"/>
            <a:ext cx="358444" cy="35844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83727" y="6092646"/>
            <a:ext cx="409650" cy="24323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83727" y="6348677"/>
            <a:ext cx="140816" cy="1664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1" y="6348677"/>
            <a:ext cx="140816" cy="1664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655350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0" y="6199632"/>
            <a:ext cx="12191695" cy="0"/>
          </a:xfrm>
          <a:prstGeom prst="line">
            <a:avLst/>
          </a:prstGeom>
          <a:ln w="762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35508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prashanth.thipparthi@outlook.com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295" y="6355080"/>
            <a:ext cx="2999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 i="0">
                <a:solidFill>
                  <a:srgbClr val="2563EB"/>
                </a:solidFill>
                <a:latin typeface="Arial"/>
              </a:defRPr>
            </a:pPr>
            <a:r>
              <a:t>www.xyra-ai.com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