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4652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36676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2688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47120" y="0"/>
            <a:ext cx="0" cy="6858000"/>
          </a:xfrm>
          <a:prstGeom prst="line">
            <a:avLst/>
          </a:prstGeom>
          <a:ln w="508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4360"/>
            <a:ext cx="2382065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1572768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A2A2A2"/>
                </a:solidFill>
                <a:latin typeface="Arial"/>
              </a:defRPr>
            </a:pPr>
            <a:r>
              <a:t>XYRA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475488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5200" b="1" i="0">
                <a:solidFill>
                  <a:srgbClr val="FFFFFF"/>
                </a:solidFill>
                <a:latin typeface="Arial"/>
              </a:defRPr>
            </a:pPr>
            <a:r>
              <a:t>XYRA</a:t>
            </a:r>
          </a:p>
          <a:p>
            <a:pPr>
              <a:defRPr sz="5200" b="1" i="0">
                <a:solidFill>
                  <a:srgbClr val="FFFFFF"/>
                </a:solidFill>
                <a:latin typeface="Arial"/>
              </a:defRPr>
            </a:pPr>
            <a:r>
              <a:t>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96512"/>
            <a:ext cx="4663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50" b="0" i="0">
                <a:solidFill>
                  <a:srgbClr val="A2A2A2"/>
                </a:solidFill>
                <a:latin typeface="Arial"/>
              </a:defRPr>
            </a:pPr>
            <a:r>
              <a:t>Private AI for EPC Drawing Deliverables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645152"/>
            <a:ext cx="4617720" cy="0"/>
          </a:xfrm>
          <a:prstGeom prst="line">
            <a:avLst/>
          </a:prstGeom>
          <a:ln w="6350">
            <a:solidFill>
              <a:srgbClr val="A2A2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4791456"/>
            <a:ext cx="466344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 i="0">
                <a:solidFill>
                  <a:srgbClr val="A2A2A2"/>
                </a:solidFill>
                <a:latin typeface="Arial"/>
              </a:defRPr>
            </a:pPr>
            <a:r>
              <a:t>Instrumentation  ·  Piping MTO  ·  Drawing Review</a:t>
            </a:r>
          </a:p>
          <a:p>
            <a:pPr>
              <a:defRPr sz="1000" b="0" i="0">
                <a:solidFill>
                  <a:srgbClr val="A2A2A2"/>
                </a:solidFill>
                <a:latin typeface="Arial"/>
              </a:defRPr>
            </a:pPr>
            <a:r>
              <a:t>Deployed inside your network — zero cloud exposure.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54864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6473952"/>
            <a:ext cx="50292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00" b="0" i="0">
                <a:solidFill>
                  <a:srgbClr val="A2A2A2"/>
                </a:solidFill>
                <a:latin typeface="Arial"/>
              </a:defRPr>
            </a:pPr>
            <a:r>
              <a:t>Confidential — prepared for EPC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298448"/>
            <a:ext cx="57607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100" b="1" i="0">
                <a:solidFill>
                  <a:srgbClr val="000000"/>
                </a:solidFill>
                <a:latin typeface="Arial"/>
              </a:defRPr>
            </a:pPr>
            <a:r>
              <a:t>Built for EPC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874519"/>
            <a:ext cx="57607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373737"/>
                </a:solidFill>
                <a:latin typeface="Arial"/>
              </a:defRPr>
            </a:pPr>
            <a:r>
              <a:t>XYRA Studio turns P&amp;IDs and engineering PDFs into structured,</a:t>
            </a:r>
          </a:p>
          <a:p>
            <a:pPr>
              <a:defRPr sz="1150" b="0" i="0">
                <a:solidFill>
                  <a:srgbClr val="373737"/>
                </a:solidFill>
                <a:latin typeface="Arial"/>
              </a:defRPr>
            </a:pPr>
            <a:r>
              <a:t>review-ready deliverables — inside your client's secure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788920"/>
            <a:ext cx="5760720" cy="74980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2788920"/>
            <a:ext cx="57607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962656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P&amp;ID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310127"/>
            <a:ext cx="539496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Auto-extract instrument tags, loops, and line numbers from vector and scanned drawings.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675887"/>
            <a:ext cx="5760720" cy="74980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3675887"/>
            <a:ext cx="57607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849623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197094"/>
            <a:ext cx="539496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Computer-vision component detection with size extraction and EPC-style Excel output.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4562856"/>
            <a:ext cx="5760720" cy="74980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4562856"/>
            <a:ext cx="57607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736592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Centralized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084063"/>
            <a:ext cx="539496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Shared engineering records — instruments, loops, IO, and piping — across disciplines.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5449824"/>
            <a:ext cx="5760720" cy="74980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5449824"/>
            <a:ext cx="576072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623560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On-Premise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971031"/>
            <a:ext cx="539496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Docker. One port. Local LLM. Client drawings never leave the client network.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2763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"/>
            <a:ext cx="1024128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50" b="1" i="0">
                <a:solidFill>
                  <a:srgbClr val="FFFFFF"/>
                </a:solidFill>
                <a:latin typeface="Arial"/>
              </a:defRPr>
            </a:pPr>
            <a:r>
              <a:t>ON A TYPICAL EPC PROJECT, LESS THAN HALF OF ENGINEERING TIME IS SPENT ON ACTUAL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 i="0">
                <a:solidFill>
                  <a:srgbClr val="A2A2A2"/>
                </a:solidFill>
                <a:latin typeface="Arial"/>
              </a:defRPr>
            </a:pPr>
            <a:r>
              <a:t>The rest — manual take-off, data re-entry across systems, reformatting, and re-checking — is clerical overhead that costs millions.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10512"/>
            <a:ext cx="5504688" cy="171907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10512"/>
            <a:ext cx="5504688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513892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Clerical Work,</a:t>
            </a:r>
          </a:p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Not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19"/>
            <a:ext cx="51389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An engineer spends 2–4 hours extracting data from a single P&amp;ID.</a:t>
            </a:r>
          </a:p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On a 500-drawing package, that is weeks of specialist time consumed before a single engineering decision is made.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810512"/>
            <a:ext cx="5504688" cy="171907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1810512"/>
            <a:ext cx="5504688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84248"/>
            <a:ext cx="513892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The Same Data,</a:t>
            </a:r>
          </a:p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Entered 4–6 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331719"/>
            <a:ext cx="51389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The instrument tag FIC-1234 is entered into the Instrument Index, the PDMS, procurement software, and the control system — separately, manually, by different people, often in the same week.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712464"/>
            <a:ext cx="5504688" cy="171907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712464"/>
            <a:ext cx="5504688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86200"/>
            <a:ext cx="513892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Discipline to Discipline</a:t>
            </a:r>
          </a:p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Through Disconnected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33671"/>
            <a:ext cx="51389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The piping team needs the updated line list. An email goes out with last week's spreadsheet. The instrumentation team made 12 corrections since then — none of which are visible to the recipient.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3712464"/>
            <a:ext cx="5504688" cy="171907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3712464"/>
            <a:ext cx="5504688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886200"/>
            <a:ext cx="513892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Checking What</a:t>
            </a:r>
          </a:p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Was Already Checked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233671"/>
            <a:ext cx="5138928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Review meetings re-verify data that was verified in the previous phase. Every drawing revision restarts the cycle. The same engineering decision gets made two, three, four times.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42432"/>
            <a:ext cx="11064240" cy="512064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833872"/>
            <a:ext cx="105156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150" b="0" i="1">
                <a:solidFill>
                  <a:srgbClr val="373737"/>
                </a:solidFill>
                <a:latin typeface="Arial"/>
              </a:defRPr>
            </a:pPr>
            <a:r>
              <a:t>"Your most expensive resource — the engineer — is being used as a data-entry service. That changes with XYRA AI."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87568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47548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1" i="0">
                <a:solidFill>
                  <a:srgbClr val="A2A2A2"/>
                </a:solidFill>
                <a:latin typeface="Arial"/>
              </a:defRPr>
            </a:pPr>
            <a:r>
              <a:t>GENERIC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4754880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 i="0">
                <a:solidFill>
                  <a:srgbClr val="FFFFFF"/>
                </a:solidFill>
                <a:latin typeface="Arial"/>
              </a:defRPr>
            </a:pPr>
            <a:r>
              <a:t>Why it fails</a:t>
            </a:r>
          </a:p>
          <a:p>
            <a:pPr>
              <a:defRPr sz="2300" b="1" i="0">
                <a:solidFill>
                  <a:srgbClr val="FFFFFF"/>
                </a:solidFill>
                <a:latin typeface="Arial"/>
              </a:defRPr>
            </a:pPr>
            <a:r>
              <a:t>EPC teams.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74519"/>
            <a:ext cx="4846320" cy="676656"/>
          </a:xfrm>
          <a:prstGeom prst="rect">
            <a:avLst/>
          </a:prstGeom>
          <a:solidFill>
            <a:srgbClr val="202020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59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Not ISA-5.1 aware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21991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A2A2A2"/>
                </a:solidFill>
                <a:latin typeface="Arial"/>
              </a:defRPr>
            </a:pPr>
            <a:r>
              <a:t>General LLMs don't understand instrument type decode, loop logic, or EPC tagging conventions.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79191"/>
            <a:ext cx="4846320" cy="676656"/>
          </a:xfrm>
          <a:prstGeom prst="rect">
            <a:avLst/>
          </a:prstGeom>
          <a:solidFill>
            <a:srgbClr val="202020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70631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Can't reliably read P&amp;IDs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26663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A2A2A2"/>
                </a:solidFill>
                <a:latin typeface="Arial"/>
              </a:defRPr>
            </a:pPr>
            <a:r>
              <a:t>ChatGPT and similar tools cannot extract structured engineering data from drawing PDFs with accuracy.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83863"/>
            <a:ext cx="4846320" cy="676656"/>
          </a:xfrm>
          <a:prstGeom prst="rect">
            <a:avLst/>
          </a:prstGeom>
          <a:solidFill>
            <a:srgbClr val="202020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75303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Client drawings can't leave the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831335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A2A2A2"/>
                </a:solidFill>
                <a:latin typeface="Arial"/>
              </a:defRPr>
            </a:pPr>
            <a:r>
              <a:t>Uploading proprietary P&amp;IDs to a public AI service violates confidentiality on most EPC contracts.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88536"/>
            <a:ext cx="4846320" cy="676656"/>
          </a:xfrm>
          <a:prstGeom prst="rect">
            <a:avLst/>
          </a:prstGeom>
          <a:solidFill>
            <a:srgbClr val="202020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79976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Outputs can't be trusted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636008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A2A2A2"/>
                </a:solidFill>
                <a:latin typeface="Arial"/>
              </a:defRPr>
            </a:pPr>
            <a:r>
              <a:t>Hallucinated instrument tags or wrong IO types are dangerous. There is no audit trail, no confidence score.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093208"/>
            <a:ext cx="4846320" cy="676656"/>
          </a:xfrm>
          <a:prstGeom prst="rect">
            <a:avLst/>
          </a:prstGeom>
          <a:solidFill>
            <a:srgbClr val="202020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184648"/>
            <a:ext cx="43891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No project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4068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A2A2A2"/>
                </a:solidFill>
                <a:latin typeface="Arial"/>
              </a:defRPr>
            </a:pPr>
            <a:r>
              <a:t>Generic AI has no knowledge of your legend, naming conventions, line classes, or drawing standards.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475488"/>
            <a:ext cx="54864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1" i="0">
                <a:solidFill>
                  <a:srgbClr val="696969"/>
                </a:solidFill>
                <a:latin typeface="Arial"/>
              </a:defRPr>
            </a:pPr>
            <a:r>
              <a:t>XYRA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768096"/>
            <a:ext cx="5486400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 i="0">
                <a:solidFill>
                  <a:srgbClr val="000000"/>
                </a:solidFill>
                <a:latin typeface="Arial"/>
              </a:defRPr>
            </a:pPr>
            <a:r>
              <a:t>Built for EPC</a:t>
            </a:r>
          </a:p>
          <a:p>
            <a:pPr>
              <a:defRPr sz="2300" b="1" i="0">
                <a:solidFill>
                  <a:srgbClr val="000000"/>
                </a:solidFill>
                <a:latin typeface="Arial"/>
              </a:defRPr>
            </a:pPr>
            <a:r>
              <a:t>from the ground 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8192" y="1874519"/>
            <a:ext cx="55778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08192" y="1874519"/>
            <a:ext cx="54864" cy="6766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965959"/>
            <a:ext cx="5212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ISA-5.1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221991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XYRA models are trained with first-letter decode, qualifier logic, and EPC tagging conventions baked 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2679191"/>
            <a:ext cx="55778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2679191"/>
            <a:ext cx="54864" cy="6766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770631"/>
            <a:ext cx="5212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Reads vector and scanned P&amp;IDs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026663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Processes both vector PDFs and scanned drawings. OCR + LLM extraction tuned for engineering drawings.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3483863"/>
            <a:ext cx="55778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08192" y="3483863"/>
            <a:ext cx="54864" cy="6766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575303"/>
            <a:ext cx="5212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100% on your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831335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All models run locally via Ollama. Client drawings never leave the client-controlled server. No API calls out.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4288536"/>
            <a:ext cx="55778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08192" y="4288536"/>
            <a:ext cx="54864" cy="6766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379976"/>
            <a:ext cx="5212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Engineer-reviewed 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636008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Every extraction is flagged with confidence scores and QA notes. Engineer approves before any delivery.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5093208"/>
            <a:ext cx="5577840" cy="676656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08192" y="5093208"/>
            <a:ext cx="54864" cy="67665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5184648"/>
            <a:ext cx="5212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 i="0">
                <a:solidFill>
                  <a:srgbClr val="000000"/>
                </a:solidFill>
                <a:latin typeface="Arial"/>
              </a:defRPr>
            </a:pPr>
            <a:r>
              <a:t>Project context aware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440680"/>
            <a:ext cx="52120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Loads your project legend, naming rules, and scope to guide extraction — not generic defaults.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43600"/>
            <a:ext cx="12191695" cy="6217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089904"/>
            <a:ext cx="110642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One extraction. Structured outputs to every discipline. Inside your network.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XYRA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One platform. Four integrated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All tools share a single workspace. Upload once — use across every tool without re-uploading.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828800"/>
            <a:ext cx="2724912" cy="3977639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 i="0">
                <a:solidFill>
                  <a:srgbClr val="D2D2D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2377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50" b="1" i="0">
                <a:solidFill>
                  <a:srgbClr val="000000"/>
                </a:solidFill>
                <a:latin typeface="Arial"/>
              </a:defRPr>
            </a:pPr>
            <a:r>
              <a:t>InstruMap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80944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1">
                <a:solidFill>
                  <a:srgbClr val="696969"/>
                </a:solidFill>
                <a:latin typeface="Arial"/>
              </a:defRPr>
            </a:pPr>
            <a:r>
              <a:t>Instrumentation Intelligence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3328416"/>
            <a:ext cx="2304288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3474720"/>
            <a:ext cx="23774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Extract tags · classify with ISA-5.1 logic · map to pipe lines</a:t>
            </a:r>
          </a:p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Outputs: Instrument Index · IO List · Verification Log · Line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724912" cy="3977639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993392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 i="0">
                <a:solidFill>
                  <a:srgbClr val="D2D2D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60320"/>
            <a:ext cx="2377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50" b="1" i="0">
                <a:solidFill>
                  <a:srgbClr val="000000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80944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1">
                <a:solidFill>
                  <a:srgbClr val="696969"/>
                </a:solidFill>
                <a:latin typeface="Arial"/>
              </a:defRPr>
            </a:pPr>
            <a:r>
              <a:t>Component Take-Off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0" y="3328416"/>
            <a:ext cx="2304288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3474720"/>
            <a:ext cx="23774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User-built library + computer-vision detection across all drawings</a:t>
            </a:r>
          </a:p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Outputs: MTO · Detection Register · QA Checks · Excel package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1828800"/>
            <a:ext cx="2724912" cy="3977639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 i="0">
                <a:solidFill>
                  <a:srgbClr val="D2D2D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560320"/>
            <a:ext cx="2377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50" b="1" i="0">
                <a:solidFill>
                  <a:srgbClr val="000000"/>
                </a:solidFill>
                <a:latin typeface="Arial"/>
              </a:defRPr>
            </a:pPr>
            <a:r>
              <a:t>PrecisionPDF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980944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1">
                <a:solidFill>
                  <a:srgbClr val="696969"/>
                </a:solidFill>
                <a:latin typeface="Arial"/>
              </a:defRPr>
            </a:pPr>
            <a:r>
              <a:t>Drawing Review Workspace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65392" y="3328416"/>
            <a:ext cx="2304288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65392" y="3474720"/>
            <a:ext cx="23774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PDF viewer · annotation tools · text search · minimap · thumbnails</a:t>
            </a:r>
          </a:p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Save and download annotated engineering drawings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90304" y="1828800"/>
            <a:ext cx="2724912" cy="3977639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3184" y="1993392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 i="0">
                <a:solidFill>
                  <a:srgbClr val="D2D2D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2560320"/>
            <a:ext cx="23774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50" b="1" i="0">
                <a:solidFill>
                  <a:srgbClr val="000000"/>
                </a:solidFill>
                <a:latin typeface="Arial"/>
              </a:defRPr>
            </a:pPr>
            <a:r>
              <a:t>System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2980944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1">
                <a:solidFill>
                  <a:srgbClr val="696969"/>
                </a:solidFill>
                <a:latin typeface="Arial"/>
              </a:defRPr>
            </a:pPr>
            <a:r>
              <a:t>Infrastructure Monitor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73184" y="3328416"/>
            <a:ext cx="2304288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473184" y="3474720"/>
            <a:ext cx="237744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Live status: API · Redis · Worker · Ollama · XYRA models</a:t>
            </a:r>
          </a:p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Client-facing confidence that local compute is operational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6035040"/>
            <a:ext cx="94183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0" i="0">
                <a:solidFill>
                  <a:srgbClr val="A2A2A2"/>
                </a:solidFill>
                <a:latin typeface="Arial"/>
              </a:defRPr>
            </a:pPr>
            <a:r>
              <a:t>Shared workspace  ·  Background job processing  ·  Local LLM intelligence  ·  No re-upload required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INSTRUMAP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Intelligent instrumentation extraction from P&amp;IDs.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Processes vector and scanned P&amp;ID PDFs. Extracts, classifies, maps, and delivers EPC-ready outputs.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874519"/>
            <a:ext cx="4160520" cy="102412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416052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5"/>
            <a:ext cx="3794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Tag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6"/>
            <a:ext cx="37947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Detects instrument tags from vector text and OCR. Filters noise, equipment refs, and title-block fragments.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44952"/>
            <a:ext cx="4160520" cy="102412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4952"/>
            <a:ext cx="416052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18688"/>
            <a:ext cx="3794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ISA-5.1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66159"/>
            <a:ext cx="37947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Applies first-letter and subsequent-letter decode. Resolves HH/LL qualifiers. Flags uncertain types for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15383"/>
            <a:ext cx="4160520" cy="102412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215383"/>
            <a:ext cx="416052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389119"/>
            <a:ext cx="3794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Line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736590"/>
            <a:ext cx="37947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Maps each instrument to its connected pipe line using geometry and proximity. Infers service context.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385816"/>
            <a:ext cx="4160520" cy="102412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385816"/>
            <a:ext cx="416052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559552"/>
            <a:ext cx="3794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Service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907023"/>
            <a:ext cx="379476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Uses upstream/downstream context, EPC conventions, and project legend to infer instrument service description.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828800"/>
            <a:ext cx="68580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1" i="0">
                <a:solidFill>
                  <a:srgbClr val="696969"/>
                </a:solidFill>
                <a:latin typeface="Arial"/>
              </a:defRPr>
            </a:pPr>
            <a:r>
              <a:t>DELIVERABLES GENERATED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2194560"/>
            <a:ext cx="66294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74920" y="2194560"/>
            <a:ext cx="384048" cy="8961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487168"/>
            <a:ext cx="21945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2322576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Instrument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2651760"/>
            <a:ext cx="59436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All detected tags, loops, types, service, drawing reference, and QA flags.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3273552"/>
            <a:ext cx="66294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4920" y="3273552"/>
            <a:ext cx="384048" cy="8961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7216" y="3566160"/>
            <a:ext cx="21945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3401568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IO 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3730752"/>
            <a:ext cx="59436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AI / AO / DI / DO point list arranged for controls and automation review.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4352544"/>
            <a:ext cx="66294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74920" y="4352544"/>
            <a:ext cx="384048" cy="8961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4645152"/>
            <a:ext cx="21945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5272" y="448056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Verification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5272" y="4809744"/>
            <a:ext cx="59436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Full extraction trail: raw text, confidence, suppression reason, and review notes.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5431536"/>
            <a:ext cx="662940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4920" y="5431536"/>
            <a:ext cx="384048" cy="8961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57216" y="5724144"/>
            <a:ext cx="21945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5272" y="5559552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Line 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5272" y="5888736"/>
            <a:ext cx="59436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Pipe line numbers extracted from the drawing with instrument associations.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6400800"/>
            <a:ext cx="6583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1">
                <a:solidFill>
                  <a:srgbClr val="A2A2A2"/>
                </a:solidFill>
                <a:latin typeface="Arial"/>
              </a:defRPr>
            </a:pPr>
            <a:r>
              <a:t>Delivered as a ZIP package — review-ready in Excel on open.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Computer-vision component detection across P&amp;ID packages.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User builds a component library once. XYRA detects and counts across every drawing and page.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04672" y="1901952"/>
            <a:ext cx="594360" cy="59436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299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15184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Upload</a:t>
            </a:r>
          </a:p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P&amp;IDs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53896" y="2194560"/>
            <a:ext cx="1170431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79191" y="1901952"/>
            <a:ext cx="594360" cy="59436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7" y="20299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1" y="2615184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Select</a:t>
            </a:r>
          </a:p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Component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28415" y="2194560"/>
            <a:ext cx="1170431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53710" y="1901952"/>
            <a:ext cx="594360" cy="59436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6" y="20299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0" y="2615184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Save to</a:t>
            </a:r>
          </a:p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Library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02934" y="2194560"/>
            <a:ext cx="1170431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28229" y="1901952"/>
            <a:ext cx="594360" cy="59436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5" y="20299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69" y="2615184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Run</a:t>
            </a:r>
          </a:p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Detection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77453" y="2194560"/>
            <a:ext cx="1170431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302748" y="1901952"/>
            <a:ext cx="594360" cy="594360"/>
          </a:xfrm>
          <a:prstGeom prst="ellipse">
            <a:avLst/>
          </a:prstGeom>
          <a:solidFill>
            <a:srgbClr val="F5F5F5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4" y="20299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88" y="2615184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Review</a:t>
            </a:r>
          </a:p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Results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51972" y="2194560"/>
            <a:ext cx="1170431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177267" y="1901952"/>
            <a:ext cx="594360" cy="594360"/>
          </a:xfrm>
          <a:prstGeom prst="ellipse">
            <a:avLst/>
          </a:prstGeom>
          <a:solidFill>
            <a:srgbClr val="000000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51003" y="2029968"/>
            <a:ext cx="25603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07" y="2615184"/>
            <a:ext cx="877824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Export</a:t>
            </a:r>
          </a:p>
          <a:p>
            <a:pPr algn="ctr">
              <a:defRPr sz="819" b="1" i="0">
                <a:solidFill>
                  <a:srgbClr val="121212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383280"/>
            <a:ext cx="2724912" cy="169164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383280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557016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904487"/>
            <a:ext cx="2359152" cy="10698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Component counts per type with drawing and page reference.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3383280"/>
            <a:ext cx="2724912" cy="169164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3383280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557016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Detection Register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904487"/>
            <a:ext cx="2359152" cy="10698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Every match: page, location, size, confidence, and review status.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383280"/>
            <a:ext cx="2724912" cy="169164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82512" y="3383280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557016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QA Checks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3904487"/>
            <a:ext cx="2359152" cy="10698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Automated checks on count thresholds and unreviewed detection items.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90304" y="3383280"/>
            <a:ext cx="2724912" cy="169164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90304" y="3383280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73184" y="3557016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AI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3904487"/>
            <a:ext cx="2359152" cy="10698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Local XYRA MTO reviewer provides QA notes where the model is available.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6080760"/>
            <a:ext cx="94183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80" b="0" i="0">
                <a:solidFill>
                  <a:srgbClr val="A2A2A2"/>
                </a:solidFill>
                <a:latin typeface="Arial"/>
              </a:defRPr>
            </a:pPr>
            <a:r>
              <a:t>Size extraction  ·  Rotation support  ·  Tolerant match mode  ·  ORB fallback  ·  Multi-page PDF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CENTRALIZED ENGINEERING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Discipline to discipline — connected, not copied.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Structured PostgreSQL database. One record per project. Every discipline reads from the same source of truth.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783080"/>
            <a:ext cx="5394960" cy="74980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5029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1" i="0">
                <a:solidFill>
                  <a:srgbClr val="696969"/>
                </a:solidFill>
                <a:latin typeface="Arial"/>
              </a:defRPr>
            </a:pPr>
            <a:r>
              <a:t>WITHOUT XYRA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66543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373737"/>
                </a:solidFill>
                <a:latin typeface="Arial"/>
              </a:defRPr>
            </a:pPr>
            <a:r>
              <a:t>Instrument list in 6 different Excel files · piping quantities in emails · no version control · each discipline working from a different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783080"/>
            <a:ext cx="5486400" cy="7498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47088"/>
            <a:ext cx="5120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1" i="0">
                <a:solidFill>
                  <a:srgbClr val="A2A2A2"/>
                </a:solidFill>
                <a:latin typeface="Arial"/>
              </a:defRPr>
            </a:pPr>
            <a:r>
              <a:t>WITH XYRA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66543"/>
            <a:ext cx="51206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FFFFFF"/>
                </a:solidFill>
                <a:latin typeface="Arial"/>
              </a:defRPr>
            </a:pPr>
            <a:r>
              <a:t>One database per project. Every discipline queries the same record. Revisions tracked. Outputs generated on demand.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606040"/>
            <a:ext cx="11119104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66928" y="2834640"/>
            <a:ext cx="3657600" cy="157276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834640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008376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Instrument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355847"/>
            <a:ext cx="3291840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Every tag, loop, type, service, IO point, and drawing reference stored per project with full revision history.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834640"/>
            <a:ext cx="3657600" cy="157276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834640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3008376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Piping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355847"/>
            <a:ext cx="3291840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MTO library and detection results indexed by project, drawing, and revision for cross-run comparison.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3" y="2834640"/>
            <a:ext cx="3657600" cy="157276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3" y="2834640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3" y="3008376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Line Associations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3" y="3355847"/>
            <a:ext cx="3291840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Instrument-to-line mapping linked to pipe line records for full cross-discipline traceability.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90288"/>
            <a:ext cx="3657600" cy="157276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590288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64024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Revision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11495"/>
            <a:ext cx="3291840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Each extraction run is versioned. Compare results across drawing revisions without separate spreadsheets.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25696" y="4590288"/>
            <a:ext cx="3657600" cy="157276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25696" y="4590288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6" y="4764024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Multi-User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6" y="5111495"/>
            <a:ext cx="3291840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Multiple engineers query and review the same project database simultaneously — no file-locking, no lost edits.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3" y="4590288"/>
            <a:ext cx="3657600" cy="157276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3" y="4590288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3" y="4764024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AI Retrieval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3" y="5111495"/>
            <a:ext cx="3291840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Structured records as the foundation for engineer Q&amp;A: 'list all transmitters on 6-inch steam lines'.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108192"/>
            <a:ext cx="5029200" cy="34747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181344"/>
            <a:ext cx="46634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80" b="1" i="0">
                <a:solidFill>
                  <a:srgbClr val="FFFFFF"/>
                </a:solidFill>
                <a:latin typeface="Arial"/>
              </a:defRPr>
            </a:pPr>
            <a:r>
              <a:t>PostgreSQL  ·  Replaces spreadsheet-per-project workflows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DEPLOYMENT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Built for client-controlled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Single-server Docker deployment. Minimal network exposure. No cloud calls. No data egress.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920240"/>
            <a:ext cx="3749039" cy="694944"/>
          </a:xfrm>
          <a:prstGeom prst="rect">
            <a:avLst/>
          </a:prstGeom>
          <a:solidFill>
            <a:srgbClr val="12121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Engineer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A2A2A2"/>
                </a:solidFill>
                <a:latin typeface="Arial"/>
              </a:defRPr>
            </a:pPr>
            <a:r>
              <a:t>Chrome or Edge on any machine in the client network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2615184"/>
            <a:ext cx="0" cy="173736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66928" y="2788920"/>
            <a:ext cx="3749039" cy="694944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16936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nginx + React SPA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209544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Only port 80 is exposed — everything else is hidden behind Docker networks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3483864"/>
            <a:ext cx="0" cy="173736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6928" y="3657600"/>
            <a:ext cx="3749039" cy="694944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85616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FastAPI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078224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API layer — internal Docker network only, not host-exposed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7168" y="4352544"/>
            <a:ext cx="0" cy="173736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4526279"/>
            <a:ext cx="3749039" cy="694944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654295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RQ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946903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Background job processing — internal Docker network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87168" y="5221223"/>
            <a:ext cx="0" cy="173736"/>
          </a:xfrm>
          <a:prstGeom prst="line">
            <a:avLst/>
          </a:prstGeom>
          <a:ln w="127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66928" y="5394960"/>
            <a:ext cx="3749039" cy="694944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522976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1" i="0">
                <a:solidFill>
                  <a:srgbClr val="000000"/>
                </a:solidFill>
                <a:latin typeface="Arial"/>
              </a:defRPr>
            </a:pPr>
            <a:r>
              <a:t>Ollama + XYRA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815584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0" i="0">
                <a:solidFill>
                  <a:srgbClr val="696969"/>
                </a:solidFill>
                <a:latin typeface="Arial"/>
              </a:defRPr>
            </a:pPr>
            <a:r>
              <a:t>Local LLM inference — no external API, no model calls outside the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874519"/>
            <a:ext cx="694944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2040" y="1874519"/>
            <a:ext cx="694944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2048255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Single exposed 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395726"/>
            <a:ext cx="6583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Port 80 only. Backend, Redis, Worker, and Ollama stay hidden in Docker internal networks.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2825496"/>
            <a:ext cx="694944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2825496"/>
            <a:ext cx="694944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2999232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Data stays local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346703"/>
            <a:ext cx="6583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P&amp;IDs, extracted tags, and all outputs remain on the client-controlled server at all times.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3776472"/>
            <a:ext cx="694944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92040" y="3776472"/>
            <a:ext cx="694944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3950208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Local model inference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297679"/>
            <a:ext cx="6583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XYRA models run on Ollama. No API key. No external model calls. Ever.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4727448"/>
            <a:ext cx="694944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2040" y="4727448"/>
            <a:ext cx="694944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901184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Security headers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5248655"/>
            <a:ext cx="6583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nginx: X-Frame-Options, CSP, rate limiting, dotfile blocking, server tokens off.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5678424"/>
            <a:ext cx="694944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92040" y="5678424"/>
            <a:ext cx="694944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5852160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Monthly licensing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6199631"/>
            <a:ext cx="65836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Subscription model with controlled deployment, update, and support cycles.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ABOUT XYRA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Engineering AI built for process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We build private, on-premise AI tools that integrate directly into EPC and plant engineering workflows.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874519"/>
            <a:ext cx="2724912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5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Domain-First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6"/>
            <a:ext cx="2359152" cy="21214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XYRA models are trained with ISA-5.1 and EPC drawing conventions built in — not adapted from general-purpose chatbots.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33425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1">
                <a:solidFill>
                  <a:srgbClr val="A2A2A2"/>
                </a:solidFill>
                <a:latin typeface="Arial"/>
              </a:defRPr>
            </a:pPr>
            <a:r>
              <a:t>Instrumentation  ·  P&amp;ID logic  ·  ISA-5.1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874519"/>
            <a:ext cx="2724912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874519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048255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Private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95726"/>
            <a:ext cx="2359152" cy="21214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Client drawings, tags, and engineering data never leave the client network. All models run locally on Ollama.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3425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1">
                <a:solidFill>
                  <a:srgbClr val="A2A2A2"/>
                </a:solidFill>
                <a:latin typeface="Arial"/>
              </a:defRPr>
            </a:pPr>
            <a:r>
              <a:t>No cloud  ·  No API keys  ·  No data egress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1874519"/>
            <a:ext cx="2724912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1874519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048255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Engineer 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95726"/>
            <a:ext cx="2359152" cy="21214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XYRA accelerates first-pass extraction and surfaces uncertainty. Every output is designed for engineer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33425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1">
                <a:solidFill>
                  <a:srgbClr val="A2A2A2"/>
                </a:solidFill>
                <a:latin typeface="Arial"/>
              </a:defRPr>
            </a:pPr>
            <a:r>
              <a:t>QA flags  ·  Confidence scores  ·  Audit trail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90304" y="1874519"/>
            <a:ext cx="2724912" cy="2743200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0304" y="1874519"/>
            <a:ext cx="2724912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2048255"/>
            <a:ext cx="235915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EPC-Ready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395726"/>
            <a:ext cx="2359152" cy="21214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Docker on Windows Server or Linux. One exposed port. Monthly licensing. Minimal IT footprint.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433425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1">
                <a:solidFill>
                  <a:srgbClr val="A2A2A2"/>
                </a:solidFill>
                <a:latin typeface="Arial"/>
              </a:defRPr>
            </a:pPr>
            <a:r>
              <a:t>Docker  ·  Port 80  ·  Windows / Linux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4901184"/>
            <a:ext cx="11119104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71600" y="5047488"/>
            <a:ext cx="94183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0" i="0">
                <a:solidFill>
                  <a:srgbClr val="373737"/>
                </a:solidFill>
                <a:latin typeface="Arial"/>
              </a:defRPr>
            </a:pPr>
            <a:r>
              <a:t>XYRA AI was founded by practitioners who spent years on EPC engineering deliverables.</a:t>
            </a:r>
          </a:p>
          <a:p>
            <a:pPr algn="ctr">
              <a:defRPr sz="1300" b="0" i="0">
                <a:solidFill>
                  <a:srgbClr val="373737"/>
                </a:solidFill>
                <a:latin typeface="Arial"/>
              </a:defRPr>
            </a:pPr>
            <a:r>
              <a:t>We built the tool we needed — then made it available to the industry.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742432"/>
            <a:ext cx="1828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6172200"/>
            <a:ext cx="100584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6254496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0">
                <a:solidFill>
                  <a:srgbClr val="696969"/>
                </a:solidFill>
                <a:latin typeface="Arial"/>
              </a:defRPr>
            </a:pPr>
            <a:r>
              <a:t>intelligent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742432"/>
            <a:ext cx="1828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6+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6172200"/>
            <a:ext cx="100584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6254496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0">
                <a:solidFill>
                  <a:srgbClr val="696969"/>
                </a:solidFill>
                <a:latin typeface="Arial"/>
              </a:defRPr>
            </a:pPr>
            <a:r>
              <a:t>EPC deliverable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742432"/>
            <a:ext cx="1828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6172200"/>
            <a:ext cx="100584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6254496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0">
                <a:solidFill>
                  <a:srgbClr val="696969"/>
                </a:solidFill>
                <a:latin typeface="Arial"/>
              </a:defRPr>
            </a:pPr>
            <a:r>
              <a:t>on-premise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742432"/>
            <a:ext cx="1828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400" b="1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6172200"/>
            <a:ext cx="100584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6254496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 i="0">
                <a:solidFill>
                  <a:srgbClr val="696969"/>
                </a:solidFill>
                <a:latin typeface="Arial"/>
              </a:defRPr>
            </a:pPr>
            <a:r>
              <a:t>cloud dependencies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PRECISIONPDF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Engineering drawing review and markup inside XYRA 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Full PDF workspace designed around the P&amp;ID review workflow. No external tools needed.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874519"/>
            <a:ext cx="3657600" cy="181051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5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High-Fidelity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6"/>
            <a:ext cx="3291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PDF.js rendering with zoom, pan, and page navigation. Works with large-format engineering drawings.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1874519"/>
            <a:ext cx="3657600" cy="181051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874519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48255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Text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395726"/>
            <a:ext cx="3291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Searchable text layer — find instrument tags, line numbers, or equipment notes directly on the drawing.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3" y="1874519"/>
            <a:ext cx="3657600" cy="181051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3" y="1874519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3" y="2048255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Annotation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3" y="2395726"/>
            <a:ext cx="3291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Freehand drawing, shape tools, and annotation sidebar for review markup and issue callouts.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67912"/>
            <a:ext cx="3657600" cy="181051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67912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41648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Minimap &amp; Thumbnails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389119"/>
            <a:ext cx="3291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Minimap overlay and thumbnail sidebar for navigation on large multi-page P&amp;ID sets.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5696" y="3867912"/>
            <a:ext cx="3657600" cy="181051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25696" y="3867912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4041648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Save /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389119"/>
            <a:ext cx="3291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Export the annotated PDF directly from the browser. Review evidence stays with the drawing.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4463" y="3867912"/>
            <a:ext cx="3657600" cy="1810512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3" y="3867912"/>
            <a:ext cx="3657600" cy="64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3" y="4041648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50" b="1" i="0">
                <a:solidFill>
                  <a:srgbClr val="121212"/>
                </a:solidFill>
                <a:latin typeface="Arial"/>
              </a:defRPr>
            </a:pPr>
            <a:r>
              <a:t>Shared 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3" y="4389119"/>
            <a:ext cx="32918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 i="0">
                <a:solidFill>
                  <a:srgbClr val="696969"/>
                </a:solidFill>
                <a:latin typeface="Arial"/>
              </a:defRPr>
            </a:pPr>
            <a:r>
              <a:t>Same drawings available from InstruMap and Piping MTO — no re-upload between tools.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"/>
            <a:ext cx="149729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92608"/>
            <a:ext cx="9144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19" b="1" i="0">
                <a:solidFill>
                  <a:srgbClr val="A2A2A2"/>
                </a:solidFill>
                <a:latin typeface="Arial"/>
              </a:defRPr>
            </a:pPr>
            <a:r>
              <a:t>PILOT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960120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500" b="1" i="0">
                <a:solidFill>
                  <a:srgbClr val="000000"/>
                </a:solidFill>
                <a:latin typeface="Arial"/>
              </a:defRPr>
            </a:pPr>
            <a:r>
              <a:t>Prove value on a real drawing package — in two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9875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50" b="0" i="0">
                <a:solidFill>
                  <a:srgbClr val="696969"/>
                </a:solidFill>
                <a:latin typeface="Arial"/>
              </a:defRPr>
            </a:pPr>
            <a:r>
              <a:t>A structured pilot gives your team a clear decision: time saved, output quality, and deployment fit.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1664208"/>
            <a:ext cx="11155680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874519"/>
            <a:ext cx="3657600" cy="331012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029968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1" i="0">
                <a:solidFill>
                  <a:srgbClr val="696969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86000"/>
            <a:ext cx="3200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 i="0">
                <a:solidFill>
                  <a:srgbClr val="000000"/>
                </a:solidFill>
                <a:latin typeface="Arial"/>
              </a:defRPr>
            </a:pPr>
            <a:r>
              <a:t>Configure &amp; 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" y="2706624"/>
            <a:ext cx="3172968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5528" y="2852928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Deploy on client server or test 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328416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Load project legend and title block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803904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Configure instrument model and MTO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279392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Run first extraction pass and calibrate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696" y="1874519"/>
            <a:ext cx="3657600" cy="3310128"/>
          </a:xfrm>
          <a:prstGeom prst="rect">
            <a:avLst/>
          </a:prstGeom>
          <a:solidFill>
            <a:srgbClr val="F5F5F5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2029968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1" i="0">
                <a:solidFill>
                  <a:srgbClr val="696969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2286000"/>
            <a:ext cx="3200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 i="0">
                <a:solidFill>
                  <a:srgbClr val="000000"/>
                </a:solidFill>
                <a:latin typeface="Arial"/>
              </a:defRPr>
            </a:pPr>
            <a:r>
              <a:t>Validate &amp; Compare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54296" y="2706624"/>
            <a:ext cx="3172968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54296" y="2852928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Process 20–50 representative P&amp;IDs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328416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Compare XYRA output against manual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3803904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Review Instrument Index, IO List, and MTO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279392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373737"/>
                </a:solidFill>
                <a:latin typeface="Arial"/>
              </a:defRPr>
            </a:pPr>
            <a:r>
              <a:t>·  Identify gaps and tune detection settings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3" y="1874519"/>
            <a:ext cx="3657600" cy="3310128"/>
          </a:xfrm>
          <a:prstGeom prst="rect">
            <a:avLst/>
          </a:prstGeom>
          <a:solidFill>
            <a:srgbClr val="121212"/>
          </a:solidFill>
          <a:ln w="1016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3" y="2029968"/>
            <a:ext cx="32004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 b="1" i="0">
                <a:solidFill>
                  <a:srgbClr val="A2A2A2"/>
                </a:solidFill>
                <a:latin typeface="Arial"/>
              </a:defRPr>
            </a:pPr>
            <a:r>
              <a:t>DECISION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3" y="2286000"/>
            <a:ext cx="320040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Delivered at Close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13063" y="2706624"/>
            <a:ext cx="3172968" cy="0"/>
          </a:xfrm>
          <a:prstGeom prst="line">
            <a:avLst/>
          </a:prstGeom>
          <a:ln w="6350">
            <a:solidFill>
              <a:srgbClr val="A2A2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13063" y="2852928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·  Coverage summary with exception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3" y="3328416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·  Time-saving estimate vs. manual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3" y="3803904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·  Deployment checklist for production rollout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3" y="4279392"/>
            <a:ext cx="32004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·  Monthly license proposal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577840"/>
            <a:ext cx="11064240" cy="8046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Ready to run XYRA Studio on one of your P&amp;ID packages?  →  prashanth.thipparthi@outlook.com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635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XYRA AI  ·  Private AI for EPC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967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750" b="0" i="0">
                <a:solidFill>
                  <a:srgbClr val="A2A2A2"/>
                </a:solidFill>
                <a:latin typeface="Arial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