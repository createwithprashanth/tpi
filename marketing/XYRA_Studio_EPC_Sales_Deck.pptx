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4663440" y="128016"/>
            <a:ext cx="2103120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5376672" y="128016"/>
            <a:ext cx="2103120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6089904" y="128016"/>
            <a:ext cx="2103120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6803136" y="128016"/>
            <a:ext cx="2103120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7516367" y="128016"/>
            <a:ext cx="2103121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8229600" y="128016"/>
            <a:ext cx="2103120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942832" y="128016"/>
            <a:ext cx="2103120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66928" y="566928"/>
            <a:ext cx="1417320" cy="310896"/>
          </a:xfrm>
          <a:prstGeom prst="rect">
            <a:avLst/>
          </a:prstGeom>
          <a:solidFill>
            <a:srgbClr val="ECFDFB"/>
          </a:solidFill>
          <a:ln w="10160">
            <a:solidFill>
              <a:srgbClr val="00A4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640080"/>
            <a:ext cx="1234440" cy="1463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850" b="1">
                <a:solidFill>
                  <a:srgbClr val="00A49C"/>
                </a:solidFill>
                <a:latin typeface="Arial"/>
              </a:defRPr>
            </a:pPr>
            <a:r>
              <a:t>Built for EPC teams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21408" y="566928"/>
            <a:ext cx="1417320" cy="310896"/>
          </a:xfrm>
          <a:prstGeom prst="rect">
            <a:avLst/>
          </a:prstGeom>
          <a:solidFill>
            <a:srgbClr val="EFF6FF"/>
          </a:solidFill>
          <a:ln w="10160">
            <a:solidFill>
              <a:srgbClr val="2C6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12848" y="640080"/>
            <a:ext cx="1234440" cy="1463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850" b="1">
                <a:solidFill>
                  <a:srgbClr val="2C67DA"/>
                </a:solidFill>
                <a:latin typeface="Arial"/>
              </a:defRPr>
            </a:pPr>
            <a:r>
              <a:t>Private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042415"/>
            <a:ext cx="4754880" cy="5486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3100" b="1">
                <a:solidFill>
                  <a:srgbClr val="0A111F"/>
                </a:solidFill>
                <a:latin typeface="Arial"/>
              </a:defRPr>
            </a:pPr>
            <a:r>
              <a:t>XYRA Studio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700784"/>
            <a:ext cx="566928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700" b="0">
                <a:solidFill>
                  <a:srgbClr val="465469"/>
                </a:solidFill>
                <a:latin typeface="Arial"/>
              </a:defRPr>
            </a:pPr>
            <a:r>
              <a:t>Private AI for EPC drawing deliverables.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468880"/>
            <a:ext cx="5669280" cy="10972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900" b="1">
                <a:solidFill>
                  <a:srgbClr val="0A111F"/>
                </a:solidFill>
                <a:latin typeface="Arial"/>
              </a:defRPr>
            </a:pPr>
            <a:r>
              <a:t>Turn P&amp;IDs and PDFs into review-ready engineering outputs.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3721608"/>
            <a:ext cx="5257800" cy="6400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250" b="0">
                <a:solidFill>
                  <a:srgbClr val="465469"/>
                </a:solidFill>
                <a:latin typeface="Arial"/>
              </a:defRPr>
            </a:pPr>
            <a:r>
              <a:t>XYRA helps instrumentation and piping teams extract tags, line context, MTO counts, and QA evidence inside the client network.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809744"/>
            <a:ext cx="114300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100" b="1">
                <a:solidFill>
                  <a:srgbClr val="00A49C"/>
                </a:solidFill>
                <a:latin typeface="Arial"/>
              </a:defRPr>
            </a:pPr>
            <a:r>
              <a:t>P&amp;ID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202936"/>
            <a:ext cx="1691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19" b="0">
                <a:solidFill>
                  <a:srgbClr val="69758A"/>
                </a:solidFill>
                <a:latin typeface="Arial"/>
              </a:defRPr>
            </a:pPr>
            <a:r>
              <a:t>instrument index + IO 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9152" y="4809744"/>
            <a:ext cx="114300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100" b="1">
                <a:solidFill>
                  <a:srgbClr val="2C67DA"/>
                </a:solidFill>
                <a:latin typeface="Arial"/>
              </a:defRPr>
            </a:pPr>
            <a:r>
              <a:t>MTO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9152" y="5202936"/>
            <a:ext cx="1691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19" b="0">
                <a:solidFill>
                  <a:srgbClr val="69758A"/>
                </a:solidFill>
                <a:latin typeface="Arial"/>
              </a:defRPr>
            </a:pPr>
            <a:r>
              <a:t>piping take-off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1648" y="4809744"/>
            <a:ext cx="114300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100" b="1">
                <a:solidFill>
                  <a:srgbClr val="21915D"/>
                </a:solidFill>
                <a:latin typeface="Arial"/>
              </a:defRPr>
            </a:pPr>
            <a:r>
              <a:t>PDF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41648" y="5202936"/>
            <a:ext cx="1691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19" b="0">
                <a:solidFill>
                  <a:srgbClr val="69758A"/>
                </a:solidFill>
                <a:latin typeface="Arial"/>
              </a:defRPr>
            </a:pPr>
            <a:r>
              <a:t>review and markup workflow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10528" y="1005840"/>
            <a:ext cx="4846320" cy="2880360"/>
          </a:xfrm>
          <a:prstGeom prst="rect">
            <a:avLst/>
          </a:prstGeom>
          <a:solidFill>
            <a:srgbClr val="0C121F"/>
          </a:solidFill>
          <a:ln w="12700">
            <a:solidFill>
              <a:srgbClr val="28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10528" y="1005840"/>
            <a:ext cx="4846320" cy="411480"/>
          </a:xfrm>
          <a:prstGeom prst="rect">
            <a:avLst/>
          </a:prstGeom>
          <a:solidFill>
            <a:srgbClr val="16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20256" y="1161288"/>
            <a:ext cx="64008" cy="64008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48272" y="1161288"/>
            <a:ext cx="64008" cy="64008"/>
          </a:xfrm>
          <a:prstGeom prst="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76288" y="1161288"/>
            <a:ext cx="64008" cy="64008"/>
          </a:xfrm>
          <a:prstGeom prst="rect">
            <a:avLst/>
          </a:prstGeom>
          <a:solidFill>
            <a:srgbClr val="28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22008" y="1133856"/>
            <a:ext cx="2468880" cy="12801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00" b="1">
                <a:solidFill>
                  <a:srgbClr val="FFFFFF"/>
                </a:solidFill>
                <a:latin typeface="Arial"/>
              </a:defRPr>
            </a:pPr>
            <a:r>
              <a:t>Instrument_Index.xlsx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1719072"/>
            <a:ext cx="914400" cy="256032"/>
          </a:xfrm>
          <a:prstGeom prst="rect">
            <a:avLst/>
          </a:prstGeom>
          <a:solidFill>
            <a:srgbClr val="23324C"/>
          </a:solidFill>
          <a:ln>
            <a:solidFill>
              <a:srgbClr val="34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1787652"/>
            <a:ext cx="82296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50" b="1">
                <a:solidFill>
                  <a:srgbClr val="FFFFFF"/>
                </a:solidFill>
                <a:latin typeface="Arial"/>
              </a:defRPr>
            </a:pPr>
            <a:r>
              <a:t>Instrument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1719072"/>
            <a:ext cx="749808" cy="256032"/>
          </a:xfrm>
          <a:prstGeom prst="rect">
            <a:avLst/>
          </a:prstGeom>
          <a:solidFill>
            <a:srgbClr val="23324C"/>
          </a:solidFill>
          <a:ln>
            <a:solidFill>
              <a:srgbClr val="34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6680" y="1787652"/>
            <a:ext cx="658368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50" b="1">
                <a:solidFill>
                  <a:srgbClr val="FFFFFF"/>
                </a:solidFill>
                <a:latin typeface="Arial"/>
              </a:defRPr>
            </a:pPr>
            <a:r>
              <a:t>Loop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30767" y="1719072"/>
            <a:ext cx="1325880" cy="256032"/>
          </a:xfrm>
          <a:prstGeom prst="rect">
            <a:avLst/>
          </a:prstGeom>
          <a:solidFill>
            <a:srgbClr val="23324C"/>
          </a:solidFill>
          <a:ln>
            <a:solidFill>
              <a:srgbClr val="34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76487" y="1787652"/>
            <a:ext cx="1234439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50" b="1">
                <a:solidFill>
                  <a:srgbClr val="FFFFFF"/>
                </a:solidFill>
                <a:latin typeface="Arial"/>
              </a:defRPr>
            </a:pPr>
            <a:r>
              <a:t>Service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56648" y="1719072"/>
            <a:ext cx="365760" cy="256032"/>
          </a:xfrm>
          <a:prstGeom prst="rect">
            <a:avLst/>
          </a:prstGeom>
          <a:solidFill>
            <a:srgbClr val="23324C"/>
          </a:solidFill>
          <a:ln>
            <a:solidFill>
              <a:srgbClr val="34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02368" y="1787652"/>
            <a:ext cx="27432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50" b="1">
                <a:solidFill>
                  <a:srgbClr val="FFFFFF"/>
                </a:solidFill>
                <a:latin typeface="Arial"/>
              </a:defRPr>
            </a:pPr>
            <a:r>
              <a:t>IO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22408" y="1719072"/>
            <a:ext cx="530352" cy="256032"/>
          </a:xfrm>
          <a:prstGeom prst="rect">
            <a:avLst/>
          </a:prstGeom>
          <a:solidFill>
            <a:srgbClr val="23324C"/>
          </a:solidFill>
          <a:ln>
            <a:solidFill>
              <a:srgbClr val="34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68128" y="1787652"/>
            <a:ext cx="438912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50" b="1">
                <a:solidFill>
                  <a:srgbClr val="FFFFFF"/>
                </a:solidFill>
                <a:latin typeface="Arial"/>
              </a:defRPr>
            </a:pPr>
            <a:r>
              <a:t>Review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66560" y="1975104"/>
            <a:ext cx="914400" cy="292608"/>
          </a:xfrm>
          <a:prstGeom prst="rect">
            <a:avLst/>
          </a:prstGeom>
          <a:solidFill>
            <a:srgbClr val="141E30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12280" y="2057400"/>
            <a:ext cx="82296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FIT-1762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80960" y="1975104"/>
            <a:ext cx="749808" cy="292608"/>
          </a:xfrm>
          <a:prstGeom prst="rect">
            <a:avLst/>
          </a:prstGeom>
          <a:solidFill>
            <a:srgbClr val="141E30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26680" y="2057400"/>
            <a:ext cx="658368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F-1762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30767" y="1975104"/>
            <a:ext cx="1325880" cy="292608"/>
          </a:xfrm>
          <a:prstGeom prst="rect">
            <a:avLst/>
          </a:prstGeom>
          <a:solidFill>
            <a:srgbClr val="141E30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76487" y="2057400"/>
            <a:ext cx="1234439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Feed gas flow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56648" y="1975104"/>
            <a:ext cx="365760" cy="292608"/>
          </a:xfrm>
          <a:prstGeom prst="rect">
            <a:avLst/>
          </a:prstGeom>
          <a:solidFill>
            <a:srgbClr val="141E30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02368" y="2057400"/>
            <a:ext cx="27432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AI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122408" y="1975104"/>
            <a:ext cx="530352" cy="292608"/>
          </a:xfrm>
          <a:prstGeom prst="rect">
            <a:avLst/>
          </a:prstGeom>
          <a:solidFill>
            <a:srgbClr val="141E30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68128" y="2057400"/>
            <a:ext cx="438912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</a:p>
        </p:txBody>
      </p:sp>
      <p:sp>
        <p:nvSpPr>
          <p:cNvPr id="50" name="Rectangle 49"/>
          <p:cNvSpPr/>
          <p:nvPr/>
        </p:nvSpPr>
        <p:spPr>
          <a:xfrm>
            <a:off x="6766560" y="2267712"/>
            <a:ext cx="914400" cy="292608"/>
          </a:xfrm>
          <a:prstGeom prst="rect">
            <a:avLst/>
          </a:prstGeom>
          <a:solidFill>
            <a:srgbClr val="101827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12280" y="2350008"/>
            <a:ext cx="82296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FCV-1762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80960" y="2267712"/>
            <a:ext cx="749808" cy="292608"/>
          </a:xfrm>
          <a:prstGeom prst="rect">
            <a:avLst/>
          </a:prstGeom>
          <a:solidFill>
            <a:srgbClr val="101827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26680" y="2350008"/>
            <a:ext cx="658368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F-1762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30767" y="2267712"/>
            <a:ext cx="1325880" cy="292608"/>
          </a:xfrm>
          <a:prstGeom prst="rect">
            <a:avLst/>
          </a:prstGeom>
          <a:solidFill>
            <a:srgbClr val="101827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76487" y="2350008"/>
            <a:ext cx="1234439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Flow control valve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756648" y="2267712"/>
            <a:ext cx="365760" cy="292608"/>
          </a:xfrm>
          <a:prstGeom prst="rect">
            <a:avLst/>
          </a:prstGeom>
          <a:solidFill>
            <a:srgbClr val="101827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02368" y="2350008"/>
            <a:ext cx="27432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AO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122408" y="2267712"/>
            <a:ext cx="530352" cy="292608"/>
          </a:xfrm>
          <a:prstGeom prst="rect">
            <a:avLst/>
          </a:prstGeom>
          <a:solidFill>
            <a:srgbClr val="101827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168128" y="2350008"/>
            <a:ext cx="438912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</a:p>
        </p:txBody>
      </p:sp>
      <p:sp>
        <p:nvSpPr>
          <p:cNvPr id="60" name="Rectangle 59"/>
          <p:cNvSpPr/>
          <p:nvPr/>
        </p:nvSpPr>
        <p:spPr>
          <a:xfrm>
            <a:off x="6766560" y="2560320"/>
            <a:ext cx="914400" cy="292608"/>
          </a:xfrm>
          <a:prstGeom prst="rect">
            <a:avLst/>
          </a:prstGeom>
          <a:solidFill>
            <a:srgbClr val="141E30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12280" y="2642616"/>
            <a:ext cx="82296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PIT-573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80960" y="2560320"/>
            <a:ext cx="749808" cy="292608"/>
          </a:xfrm>
          <a:prstGeom prst="rect">
            <a:avLst/>
          </a:prstGeom>
          <a:solidFill>
            <a:srgbClr val="141E30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26680" y="2642616"/>
            <a:ext cx="658368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P-573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30767" y="2560320"/>
            <a:ext cx="1325880" cy="292608"/>
          </a:xfrm>
          <a:prstGeom prst="rect">
            <a:avLst/>
          </a:prstGeom>
          <a:solidFill>
            <a:srgbClr val="141E30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76487" y="2642616"/>
            <a:ext cx="1234439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Vessel pressure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756648" y="2560320"/>
            <a:ext cx="365760" cy="292608"/>
          </a:xfrm>
          <a:prstGeom prst="rect">
            <a:avLst/>
          </a:prstGeom>
          <a:solidFill>
            <a:srgbClr val="141E30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802368" y="2642616"/>
            <a:ext cx="27432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AI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122408" y="2560320"/>
            <a:ext cx="530352" cy="292608"/>
          </a:xfrm>
          <a:prstGeom prst="rect">
            <a:avLst/>
          </a:prstGeom>
          <a:solidFill>
            <a:srgbClr val="141E30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168128" y="2642616"/>
            <a:ext cx="438912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</a:p>
        </p:txBody>
      </p:sp>
      <p:sp>
        <p:nvSpPr>
          <p:cNvPr id="70" name="Rectangle 69"/>
          <p:cNvSpPr/>
          <p:nvPr/>
        </p:nvSpPr>
        <p:spPr>
          <a:xfrm>
            <a:off x="6766560" y="2852928"/>
            <a:ext cx="914400" cy="292608"/>
          </a:xfrm>
          <a:prstGeom prst="rect">
            <a:avLst/>
          </a:prstGeom>
          <a:solidFill>
            <a:srgbClr val="101827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12280" y="2935224"/>
            <a:ext cx="82296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ZSH-221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680960" y="2852928"/>
            <a:ext cx="749808" cy="292608"/>
          </a:xfrm>
          <a:prstGeom prst="rect">
            <a:avLst/>
          </a:prstGeom>
          <a:solidFill>
            <a:srgbClr val="101827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26680" y="2935224"/>
            <a:ext cx="658368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Z-221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430767" y="2852928"/>
            <a:ext cx="1325880" cy="292608"/>
          </a:xfrm>
          <a:prstGeom prst="rect">
            <a:avLst/>
          </a:prstGeom>
          <a:solidFill>
            <a:srgbClr val="101827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476487" y="2935224"/>
            <a:ext cx="1234439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Valve open limit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756648" y="2852928"/>
            <a:ext cx="365760" cy="292608"/>
          </a:xfrm>
          <a:prstGeom prst="rect">
            <a:avLst/>
          </a:prstGeom>
          <a:solidFill>
            <a:srgbClr val="101827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802368" y="2935224"/>
            <a:ext cx="27432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DI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22408" y="2852928"/>
            <a:ext cx="530352" cy="292608"/>
          </a:xfrm>
          <a:prstGeom prst="rect">
            <a:avLst/>
          </a:prstGeom>
          <a:solidFill>
            <a:srgbClr val="101827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168128" y="2935224"/>
            <a:ext cx="438912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QA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510528" y="4224528"/>
            <a:ext cx="1481328" cy="100584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10528" y="4224528"/>
            <a:ext cx="1481328" cy="64008"/>
          </a:xfrm>
          <a:prstGeom prst="rect">
            <a:avLst/>
          </a:prstGeom>
          <a:solidFill>
            <a:srgbClr val="00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711696" y="4425696"/>
            <a:ext cx="1078992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200" b="1">
                <a:solidFill>
                  <a:srgbClr val="0A111F"/>
                </a:solidFill>
                <a:latin typeface="Arial"/>
              </a:defRPr>
            </a:pPr>
            <a:r>
              <a:t>Extract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11696" y="4846320"/>
            <a:ext cx="1078992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40" b="0">
                <a:solidFill>
                  <a:srgbClr val="69758A"/>
                </a:solidFill>
                <a:latin typeface="Arial"/>
              </a:defRPr>
            </a:pPr>
            <a:r>
              <a:t>Tags, loops, lines, and equipment context.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174736" y="4224528"/>
            <a:ext cx="1481328" cy="100584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174736" y="4224528"/>
            <a:ext cx="1481328" cy="64008"/>
          </a:xfrm>
          <a:prstGeom prst="rect">
            <a:avLst/>
          </a:prstGeom>
          <a:solidFill>
            <a:srgbClr val="2C6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375904" y="4425696"/>
            <a:ext cx="1078992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200" b="1">
                <a:solidFill>
                  <a:srgbClr val="0A111F"/>
                </a:solidFill>
                <a:latin typeface="Arial"/>
              </a:defRPr>
            </a:pPr>
            <a:r>
              <a:t>Review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75904" y="4846320"/>
            <a:ext cx="1078992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40" b="0">
                <a:solidFill>
                  <a:srgbClr val="69758A"/>
                </a:solidFill>
                <a:latin typeface="Arial"/>
              </a:defRPr>
            </a:pPr>
            <a:r>
              <a:t>Confidence flags and QA evidence.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838944" y="4224528"/>
            <a:ext cx="1481328" cy="100584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838944" y="4224528"/>
            <a:ext cx="1481328" cy="64008"/>
          </a:xfrm>
          <a:prstGeom prst="rect">
            <a:avLst/>
          </a:prstGeom>
          <a:solidFill>
            <a:srgbClr val="219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040112" y="4425696"/>
            <a:ext cx="1078992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200" b="1">
                <a:solidFill>
                  <a:srgbClr val="0A111F"/>
                </a:solidFill>
                <a:latin typeface="Arial"/>
              </a:defRPr>
            </a:pPr>
            <a:r>
              <a:t>Deliver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040112" y="4846320"/>
            <a:ext cx="1078992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40" b="0">
                <a:solidFill>
                  <a:srgbClr val="69758A"/>
                </a:solidFill>
                <a:latin typeface="Arial"/>
              </a:defRPr>
            </a:pPr>
            <a:r>
              <a:t>Excel packs your team can check.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02920" y="6473952"/>
            <a:ext cx="45720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750" b="0">
                <a:solidFill>
                  <a:srgbClr val="919BAB"/>
                </a:solidFill>
                <a:latin typeface="Arial"/>
              </a:defRPr>
            </a:pPr>
            <a:r>
              <a:t>XYRA Studio | Private AI for EPC drawing deliverables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>
              <a:defRPr sz="750" b="0">
                <a:solidFill>
                  <a:srgbClr val="919BAB"/>
                </a:solidFill>
                <a:latin typeface="Arial"/>
              </a:defRPr>
            </a:pPr>
            <a: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4663440" y="128016"/>
            <a:ext cx="2103120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5376672" y="128016"/>
            <a:ext cx="2103120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6089904" y="128016"/>
            <a:ext cx="2103120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6803136" y="128016"/>
            <a:ext cx="2103120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7516367" y="128016"/>
            <a:ext cx="2103121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8229600" y="128016"/>
            <a:ext cx="2103120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942832" y="128016"/>
            <a:ext cx="2103120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457200"/>
            <a:ext cx="43891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50" b="1">
                <a:solidFill>
                  <a:srgbClr val="00A49C"/>
                </a:solidFill>
                <a:latin typeface="Arial"/>
              </a:defRPr>
            </a:pPr>
            <a:r>
              <a:t>WHY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731520"/>
            <a:ext cx="7955279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800" b="1">
                <a:solidFill>
                  <a:srgbClr val="0A111F"/>
                </a:solidFill>
                <a:latin typeface="Arial"/>
              </a:defRPr>
            </a:pPr>
            <a:r>
              <a:t>Manual drawing take-off is a capacity problem.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353312"/>
            <a:ext cx="7498079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220" b="0">
                <a:solidFill>
                  <a:srgbClr val="465469"/>
                </a:solidFill>
                <a:latin typeface="Arial"/>
              </a:defRPr>
            </a:pPr>
            <a:r>
              <a:t>EPC teams need faster first-pass deliverables without pushing client drawings outside the network.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011680"/>
            <a:ext cx="2514600" cy="141732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2011680"/>
            <a:ext cx="2514600" cy="64008"/>
          </a:xfrm>
          <a:prstGeom prst="rect">
            <a:avLst/>
          </a:prstGeom>
          <a:solidFill>
            <a:srgbClr val="E18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212848"/>
            <a:ext cx="2112264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200" b="1">
                <a:solidFill>
                  <a:srgbClr val="0A111F"/>
                </a:solidFill>
                <a:latin typeface="Arial"/>
              </a:defRPr>
            </a:pPr>
            <a:r>
              <a:t>Manual extraction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633472"/>
            <a:ext cx="2112264" cy="63093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40" b="0">
                <a:solidFill>
                  <a:srgbClr val="69758A"/>
                </a:solidFill>
                <a:latin typeface="Arial"/>
              </a:defRPr>
            </a:pPr>
            <a:r>
              <a:t>Engineers spend hours copying tags, loops, line numbers, and symbol counts from PDFs.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56432" y="2011680"/>
            <a:ext cx="2514600" cy="141732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56432" y="2011680"/>
            <a:ext cx="2514600" cy="64008"/>
          </a:xfrm>
          <a:prstGeom prst="rect">
            <a:avLst/>
          </a:prstGeom>
          <a:solidFill>
            <a:srgbClr val="2C6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2212848"/>
            <a:ext cx="2112264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200" b="1">
                <a:solidFill>
                  <a:srgbClr val="0A111F"/>
                </a:solidFill>
                <a:latin typeface="Arial"/>
              </a:defRPr>
            </a:pPr>
            <a:r>
              <a:t>Review drift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633472"/>
            <a:ext cx="2112264" cy="63093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40" b="0">
                <a:solidFill>
                  <a:srgbClr val="69758A"/>
                </a:solidFill>
                <a:latin typeface="Arial"/>
              </a:defRPr>
            </a:pPr>
            <a:r>
              <a:t>Excel files, PDF markups, and review notes often separate from the drawing evidence.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2011680"/>
            <a:ext cx="2514600" cy="141732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2011680"/>
            <a:ext cx="2514600" cy="64008"/>
          </a:xfrm>
          <a:prstGeom prst="rect">
            <a:avLst/>
          </a:prstGeom>
          <a:solidFill>
            <a:srgbClr val="00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212848"/>
            <a:ext cx="2112264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200" b="1">
                <a:solidFill>
                  <a:srgbClr val="0A111F"/>
                </a:solidFill>
                <a:latin typeface="Arial"/>
              </a:defRPr>
            </a:pPr>
            <a:r>
              <a:t>Data restrictions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633472"/>
            <a:ext cx="2112264" cy="63093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40" b="0">
                <a:solidFill>
                  <a:srgbClr val="69758A"/>
                </a:solidFill>
                <a:latin typeface="Arial"/>
              </a:defRPr>
            </a:pPr>
            <a:r>
              <a:t>Many clients cannot send drawings to public cloud AI services.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2832" y="2011680"/>
            <a:ext cx="2514600" cy="141732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42832" y="2011680"/>
            <a:ext cx="2514600" cy="64008"/>
          </a:xfrm>
          <a:prstGeom prst="rect">
            <a:avLst/>
          </a:prstGeom>
          <a:solidFill>
            <a:srgbClr val="219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2212848"/>
            <a:ext cx="2112264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200" b="1">
                <a:solidFill>
                  <a:srgbClr val="0A111F"/>
                </a:solidFill>
                <a:latin typeface="Arial"/>
              </a:defRPr>
            </a:pPr>
            <a:r>
              <a:t>Small teams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633472"/>
            <a:ext cx="2112264" cy="63093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40" b="0">
                <a:solidFill>
                  <a:srgbClr val="69758A"/>
                </a:solidFill>
                <a:latin typeface="Arial"/>
              </a:defRPr>
            </a:pPr>
            <a:r>
              <a:t>Specialist engineers are expensive to keep on repetitive take-off work.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60520"/>
            <a:ext cx="10332720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2100" b="1">
                <a:solidFill>
                  <a:srgbClr val="0A111F"/>
                </a:solidFill>
                <a:latin typeface="Arial"/>
              </a:defRPr>
            </a:pPr>
            <a:r>
              <a:t>XYRA is positioned as the first-pass engineering assistant: it accelerates extraction, makes uncertainty visible, and keeps the engineer in control.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230368"/>
            <a:ext cx="114300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100" b="1">
                <a:solidFill>
                  <a:srgbClr val="00A49C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623560"/>
            <a:ext cx="1691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19" b="0">
                <a:solidFill>
                  <a:srgbClr val="69758A"/>
                </a:solidFill>
                <a:latin typeface="Arial"/>
              </a:defRPr>
            </a:pPr>
            <a:r>
              <a:t>internal deployment surface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60" y="5230368"/>
            <a:ext cx="114300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100" b="1">
                <a:solidFill>
                  <a:srgbClr val="2C67D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5623560"/>
            <a:ext cx="1691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19" b="0">
                <a:solidFill>
                  <a:srgbClr val="69758A"/>
                </a:solidFill>
                <a:latin typeface="Arial"/>
              </a:defRPr>
            </a:pPr>
            <a:r>
              <a:t>drawing intelligence tools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5230368"/>
            <a:ext cx="114300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100" b="1">
                <a:solidFill>
                  <a:srgbClr val="21915D"/>
                </a:solidFill>
                <a:latin typeface="Arial"/>
              </a:defRPr>
            </a:pPr>
            <a:r>
              <a:t>6+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5623560"/>
            <a:ext cx="1691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19" b="0">
                <a:solidFill>
                  <a:srgbClr val="69758A"/>
                </a:solidFill>
                <a:latin typeface="Arial"/>
              </a:defRPr>
            </a:pPr>
            <a:r>
              <a:t>review-ready outputs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45720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750" b="0">
                <a:solidFill>
                  <a:srgbClr val="919BAB"/>
                </a:solidFill>
                <a:latin typeface="Arial"/>
              </a:defRPr>
            </a:pPr>
            <a:r>
              <a:t>XYRA Studio | Private AI for EPC drawing deliverables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>
              <a:defRPr sz="750" b="0">
                <a:solidFill>
                  <a:srgbClr val="919BAB"/>
                </a:solidFill>
                <a:latin typeface="Arial"/>
              </a:defRPr>
            </a:pPr>
            <a: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4663440" y="128016"/>
            <a:ext cx="2103120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5376672" y="128016"/>
            <a:ext cx="2103120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6089904" y="128016"/>
            <a:ext cx="2103120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6803136" y="128016"/>
            <a:ext cx="2103120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7516367" y="128016"/>
            <a:ext cx="2103121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8229600" y="128016"/>
            <a:ext cx="2103120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942832" y="128016"/>
            <a:ext cx="2103120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457200"/>
            <a:ext cx="43891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50" b="1">
                <a:solidFill>
                  <a:srgbClr val="00A49C"/>
                </a:solidFill>
                <a:latin typeface="Arial"/>
              </a:defRPr>
            </a:pPr>
            <a:r>
              <a:t>WHAT CLIENTS RECEIVE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731520"/>
            <a:ext cx="7955279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800" b="1">
                <a:solidFill>
                  <a:srgbClr val="0A111F"/>
                </a:solidFill>
                <a:latin typeface="Arial"/>
              </a:defRPr>
            </a:pPr>
            <a:r>
              <a:t>Engineering deliverables, not a chatbot demo.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353312"/>
            <a:ext cx="7498079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220" b="0">
                <a:solidFill>
                  <a:srgbClr val="465469"/>
                </a:solidFill>
                <a:latin typeface="Arial"/>
              </a:defRPr>
            </a:pPr>
            <a:r>
              <a:t>Outputs are designed for review, filtering, traceability, and handover.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1828800"/>
            <a:ext cx="4709160" cy="2880360"/>
          </a:xfrm>
          <a:prstGeom prst="rect">
            <a:avLst/>
          </a:prstGeom>
          <a:solidFill>
            <a:srgbClr val="0C121F"/>
          </a:solidFill>
          <a:ln w="12700">
            <a:solidFill>
              <a:srgbClr val="28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1828800"/>
            <a:ext cx="4709160" cy="411480"/>
          </a:xfrm>
          <a:prstGeom prst="rect">
            <a:avLst/>
          </a:prstGeom>
          <a:solidFill>
            <a:srgbClr val="16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" y="1984248"/>
            <a:ext cx="64008" cy="64008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3544" y="1984248"/>
            <a:ext cx="64008" cy="64008"/>
          </a:xfrm>
          <a:prstGeom prst="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1984248"/>
            <a:ext cx="64008" cy="64008"/>
          </a:xfrm>
          <a:prstGeom prst="rect">
            <a:avLst/>
          </a:prstGeom>
          <a:solidFill>
            <a:srgbClr val="28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1956816"/>
            <a:ext cx="2468880" cy="12801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00" b="1">
                <a:solidFill>
                  <a:srgbClr val="FFFFFF"/>
                </a:solidFill>
                <a:latin typeface="Arial"/>
              </a:defRPr>
            </a:pPr>
            <a:r>
              <a:t>Instrument_Index.xlsx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" y="2542032"/>
            <a:ext cx="914400" cy="256032"/>
          </a:xfrm>
          <a:prstGeom prst="rect">
            <a:avLst/>
          </a:prstGeom>
          <a:solidFill>
            <a:srgbClr val="23324C"/>
          </a:solidFill>
          <a:ln>
            <a:solidFill>
              <a:srgbClr val="34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2610612"/>
            <a:ext cx="82296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50" b="1">
                <a:solidFill>
                  <a:srgbClr val="FFFFFF"/>
                </a:solidFill>
                <a:latin typeface="Arial"/>
              </a:defRPr>
            </a:pPr>
            <a:r>
              <a:t>Instrument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56232" y="2542032"/>
            <a:ext cx="749808" cy="256032"/>
          </a:xfrm>
          <a:prstGeom prst="rect">
            <a:avLst/>
          </a:prstGeom>
          <a:solidFill>
            <a:srgbClr val="23324C"/>
          </a:solidFill>
          <a:ln>
            <a:solidFill>
              <a:srgbClr val="34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01952" y="2610612"/>
            <a:ext cx="658368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50" b="1">
                <a:solidFill>
                  <a:srgbClr val="FFFFFF"/>
                </a:solidFill>
                <a:latin typeface="Arial"/>
              </a:defRPr>
            </a:pPr>
            <a:r>
              <a:t>Loop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39" y="2542032"/>
            <a:ext cx="1325880" cy="256032"/>
          </a:xfrm>
          <a:prstGeom prst="rect">
            <a:avLst/>
          </a:prstGeom>
          <a:solidFill>
            <a:srgbClr val="23324C"/>
          </a:solidFill>
          <a:ln>
            <a:solidFill>
              <a:srgbClr val="34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59" y="2610612"/>
            <a:ext cx="1234439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50" b="1">
                <a:solidFill>
                  <a:srgbClr val="FFFFFF"/>
                </a:solidFill>
                <a:latin typeface="Arial"/>
              </a:defRPr>
            </a:pPr>
            <a:r>
              <a:t>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1920" y="2542032"/>
            <a:ext cx="365760" cy="256032"/>
          </a:xfrm>
          <a:prstGeom prst="rect">
            <a:avLst/>
          </a:prstGeom>
          <a:solidFill>
            <a:srgbClr val="23324C"/>
          </a:solidFill>
          <a:ln>
            <a:solidFill>
              <a:srgbClr val="34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77640" y="2610612"/>
            <a:ext cx="27432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50" b="1">
                <a:solidFill>
                  <a:srgbClr val="FFFFFF"/>
                </a:solidFill>
                <a:latin typeface="Arial"/>
              </a:defRPr>
            </a:pPr>
            <a:r>
              <a:t>IO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2542032"/>
            <a:ext cx="530352" cy="256032"/>
          </a:xfrm>
          <a:prstGeom prst="rect">
            <a:avLst/>
          </a:prstGeom>
          <a:solidFill>
            <a:srgbClr val="23324C"/>
          </a:solidFill>
          <a:ln>
            <a:solidFill>
              <a:srgbClr val="34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2610612"/>
            <a:ext cx="438912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50" b="1">
                <a:solidFill>
                  <a:srgbClr val="FFFFFF"/>
                </a:solidFill>
                <a:latin typeface="Arial"/>
              </a:defRPr>
            </a:pPr>
            <a:r>
              <a:t>Review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2" y="2798064"/>
            <a:ext cx="914400" cy="292608"/>
          </a:xfrm>
          <a:prstGeom prst="rect">
            <a:avLst/>
          </a:prstGeom>
          <a:solidFill>
            <a:srgbClr val="141E30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2880360"/>
            <a:ext cx="82296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FIT-1762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56232" y="2798064"/>
            <a:ext cx="749808" cy="292608"/>
          </a:xfrm>
          <a:prstGeom prst="rect">
            <a:avLst/>
          </a:prstGeom>
          <a:solidFill>
            <a:srgbClr val="141E30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01952" y="2880360"/>
            <a:ext cx="658368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F-1762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39" y="2798064"/>
            <a:ext cx="1325880" cy="292608"/>
          </a:xfrm>
          <a:prstGeom prst="rect">
            <a:avLst/>
          </a:prstGeom>
          <a:solidFill>
            <a:srgbClr val="141E30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59" y="2880360"/>
            <a:ext cx="1234439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Feed gas flow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31920" y="2798064"/>
            <a:ext cx="365760" cy="292608"/>
          </a:xfrm>
          <a:prstGeom prst="rect">
            <a:avLst/>
          </a:prstGeom>
          <a:solidFill>
            <a:srgbClr val="141E30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77640" y="2880360"/>
            <a:ext cx="27432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AI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2798064"/>
            <a:ext cx="530352" cy="292608"/>
          </a:xfrm>
          <a:prstGeom prst="rect">
            <a:avLst/>
          </a:prstGeom>
          <a:solidFill>
            <a:srgbClr val="141E30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43400" y="2880360"/>
            <a:ext cx="438912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</a:p>
        </p:txBody>
      </p:sp>
      <p:sp>
        <p:nvSpPr>
          <p:cNvPr id="39" name="Rectangle 38"/>
          <p:cNvSpPr/>
          <p:nvPr/>
        </p:nvSpPr>
        <p:spPr>
          <a:xfrm>
            <a:off x="941832" y="3090672"/>
            <a:ext cx="914400" cy="292608"/>
          </a:xfrm>
          <a:prstGeom prst="rect">
            <a:avLst/>
          </a:prstGeom>
          <a:solidFill>
            <a:srgbClr val="101827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" y="3172968"/>
            <a:ext cx="82296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FCV-1762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56232" y="3090672"/>
            <a:ext cx="749808" cy="292608"/>
          </a:xfrm>
          <a:prstGeom prst="rect">
            <a:avLst/>
          </a:prstGeom>
          <a:solidFill>
            <a:srgbClr val="101827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01952" y="3172968"/>
            <a:ext cx="658368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F-1762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06039" y="3090672"/>
            <a:ext cx="1325880" cy="292608"/>
          </a:xfrm>
          <a:prstGeom prst="rect">
            <a:avLst/>
          </a:prstGeom>
          <a:solidFill>
            <a:srgbClr val="101827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51759" y="3172968"/>
            <a:ext cx="1234439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Flow control valve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31920" y="3090672"/>
            <a:ext cx="365760" cy="292608"/>
          </a:xfrm>
          <a:prstGeom prst="rect">
            <a:avLst/>
          </a:prstGeom>
          <a:solidFill>
            <a:srgbClr val="101827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77640" y="3172968"/>
            <a:ext cx="27432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AO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97680" y="3090672"/>
            <a:ext cx="530352" cy="292608"/>
          </a:xfrm>
          <a:prstGeom prst="rect">
            <a:avLst/>
          </a:prstGeom>
          <a:solidFill>
            <a:srgbClr val="101827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43400" y="3172968"/>
            <a:ext cx="438912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</a:p>
        </p:txBody>
      </p:sp>
      <p:sp>
        <p:nvSpPr>
          <p:cNvPr id="49" name="Rectangle 48"/>
          <p:cNvSpPr/>
          <p:nvPr/>
        </p:nvSpPr>
        <p:spPr>
          <a:xfrm>
            <a:off x="941832" y="3383280"/>
            <a:ext cx="914400" cy="292608"/>
          </a:xfrm>
          <a:prstGeom prst="rect">
            <a:avLst/>
          </a:prstGeom>
          <a:solidFill>
            <a:srgbClr val="141E30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7552" y="3465576"/>
            <a:ext cx="82296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PIT-573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56232" y="3383280"/>
            <a:ext cx="749808" cy="292608"/>
          </a:xfrm>
          <a:prstGeom prst="rect">
            <a:avLst/>
          </a:prstGeom>
          <a:solidFill>
            <a:srgbClr val="141E30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01952" y="3465576"/>
            <a:ext cx="658368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P-573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06039" y="3383280"/>
            <a:ext cx="1325880" cy="292608"/>
          </a:xfrm>
          <a:prstGeom prst="rect">
            <a:avLst/>
          </a:prstGeom>
          <a:solidFill>
            <a:srgbClr val="141E30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51759" y="3465576"/>
            <a:ext cx="1234439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Vessel pressure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31920" y="3383280"/>
            <a:ext cx="365760" cy="292608"/>
          </a:xfrm>
          <a:prstGeom prst="rect">
            <a:avLst/>
          </a:prstGeom>
          <a:solidFill>
            <a:srgbClr val="141E30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77640" y="3465576"/>
            <a:ext cx="27432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AI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97680" y="3383280"/>
            <a:ext cx="530352" cy="292608"/>
          </a:xfrm>
          <a:prstGeom prst="rect">
            <a:avLst/>
          </a:prstGeom>
          <a:solidFill>
            <a:srgbClr val="141E30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43400" y="3465576"/>
            <a:ext cx="438912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</a:p>
        </p:txBody>
      </p:sp>
      <p:sp>
        <p:nvSpPr>
          <p:cNvPr id="59" name="Rectangle 58"/>
          <p:cNvSpPr/>
          <p:nvPr/>
        </p:nvSpPr>
        <p:spPr>
          <a:xfrm>
            <a:off x="941832" y="3675888"/>
            <a:ext cx="914400" cy="292608"/>
          </a:xfrm>
          <a:prstGeom prst="rect">
            <a:avLst/>
          </a:prstGeom>
          <a:solidFill>
            <a:srgbClr val="101827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7552" y="3758184"/>
            <a:ext cx="82296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ZSH-221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856232" y="3675888"/>
            <a:ext cx="749808" cy="292608"/>
          </a:xfrm>
          <a:prstGeom prst="rect">
            <a:avLst/>
          </a:prstGeom>
          <a:solidFill>
            <a:srgbClr val="101827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901952" y="3758184"/>
            <a:ext cx="658368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Z-221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606039" y="3675888"/>
            <a:ext cx="1325880" cy="292608"/>
          </a:xfrm>
          <a:prstGeom prst="rect">
            <a:avLst/>
          </a:prstGeom>
          <a:solidFill>
            <a:srgbClr val="101827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51759" y="3758184"/>
            <a:ext cx="1234439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Valve open limit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31920" y="3675888"/>
            <a:ext cx="365760" cy="292608"/>
          </a:xfrm>
          <a:prstGeom prst="rect">
            <a:avLst/>
          </a:prstGeom>
          <a:solidFill>
            <a:srgbClr val="101827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77640" y="3758184"/>
            <a:ext cx="27432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DI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7680" y="3675888"/>
            <a:ext cx="530352" cy="292608"/>
          </a:xfrm>
          <a:prstGeom prst="rect">
            <a:avLst/>
          </a:prstGeom>
          <a:solidFill>
            <a:srgbClr val="101827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43400" y="3758184"/>
            <a:ext cx="438912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630" b="0">
                <a:solidFill>
                  <a:srgbClr val="D8E0EE"/>
                </a:solidFill>
                <a:latin typeface="Arial"/>
              </a:defRPr>
            </a:pPr>
            <a:r>
              <a:t>QA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806440" y="1572768"/>
            <a:ext cx="525780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06440" y="1572768"/>
            <a:ext cx="5257800" cy="64008"/>
          </a:xfrm>
          <a:prstGeom prst="rect">
            <a:avLst/>
          </a:prstGeom>
          <a:solidFill>
            <a:srgbClr val="00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007608" y="1773936"/>
            <a:ext cx="4855464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200" b="1">
                <a:solidFill>
                  <a:srgbClr val="0A111F"/>
                </a:solidFill>
                <a:latin typeface="Arial"/>
              </a:defRPr>
            </a:pPr>
            <a:r>
              <a:t>Instrument Index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07608" y="2194560"/>
            <a:ext cx="4855464" cy="-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40" b="0">
                <a:solidFill>
                  <a:srgbClr val="69758A"/>
                </a:solidFill>
                <a:latin typeface="Arial"/>
              </a:defRPr>
            </a:pPr>
            <a:r>
              <a:t>Instrument tags, loops, service text, drawing references, and review flags.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806440" y="2322576"/>
            <a:ext cx="525780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806440" y="2322576"/>
            <a:ext cx="5257800" cy="64008"/>
          </a:xfrm>
          <a:prstGeom prst="rect">
            <a:avLst/>
          </a:prstGeom>
          <a:solidFill>
            <a:srgbClr val="2C6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007608" y="2523744"/>
            <a:ext cx="4855464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200" b="1">
                <a:solidFill>
                  <a:srgbClr val="0A111F"/>
                </a:solidFill>
                <a:latin typeface="Arial"/>
              </a:defRPr>
            </a:pPr>
            <a:r>
              <a:t>IO List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07608" y="2944368"/>
            <a:ext cx="4855464" cy="-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40" b="0">
                <a:solidFill>
                  <a:srgbClr val="69758A"/>
                </a:solidFill>
                <a:latin typeface="Arial"/>
              </a:defRPr>
            </a:pPr>
            <a:r>
              <a:t>AI, AO, DI, DO points arranged for controls and automation review.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806440" y="3072384"/>
            <a:ext cx="525780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806440" y="3072384"/>
            <a:ext cx="5257800" cy="64008"/>
          </a:xfrm>
          <a:prstGeom prst="rect">
            <a:avLst/>
          </a:prstGeom>
          <a:solidFill>
            <a:srgbClr val="219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007608" y="3273552"/>
            <a:ext cx="4855464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200" b="1">
                <a:solidFill>
                  <a:srgbClr val="0A111F"/>
                </a:solidFill>
                <a:latin typeface="Arial"/>
              </a:defRPr>
            </a:pPr>
            <a:r>
              <a:t>Piping MTO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07608" y="3694176"/>
            <a:ext cx="4855464" cy="-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40" b="0">
                <a:solidFill>
                  <a:srgbClr val="69758A"/>
                </a:solidFill>
                <a:latin typeface="Arial"/>
              </a:defRPr>
            </a:pPr>
            <a:r>
              <a:t>Symbol counts and page-level evidence for piping material take-off support.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806440" y="3822191"/>
            <a:ext cx="525780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806440" y="3822191"/>
            <a:ext cx="5257800" cy="64008"/>
          </a:xfrm>
          <a:prstGeom prst="rect">
            <a:avLst/>
          </a:prstGeom>
          <a:solidFill>
            <a:srgbClr val="E18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007608" y="4023359"/>
            <a:ext cx="4855464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200" b="1">
                <a:solidFill>
                  <a:srgbClr val="0A111F"/>
                </a:solidFill>
                <a:latin typeface="Arial"/>
              </a:defRPr>
            </a:pPr>
            <a:r>
              <a:t>Verification Log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07608" y="4443983"/>
            <a:ext cx="4855464" cy="-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40" b="0">
                <a:solidFill>
                  <a:srgbClr val="69758A"/>
                </a:solidFill>
                <a:latin typeface="Arial"/>
              </a:defRPr>
            </a:pPr>
            <a:r>
              <a:t>Raw extraction trail, confidence, suppression reason, and QA notes.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806440" y="4572000"/>
            <a:ext cx="525780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806440" y="4572000"/>
            <a:ext cx="5257800" cy="64008"/>
          </a:xfrm>
          <a:prstGeom prst="rect">
            <a:avLst/>
          </a:prstGeom>
          <a:solidFill>
            <a:srgbClr val="00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007608" y="4773168"/>
            <a:ext cx="4855464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200" b="1">
                <a:solidFill>
                  <a:srgbClr val="0A111F"/>
                </a:solidFill>
                <a:latin typeface="Arial"/>
              </a:defRPr>
            </a:pPr>
            <a:r>
              <a:t>PrecisionPDF Review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007608" y="5193792"/>
            <a:ext cx="4855464" cy="-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40" b="0">
                <a:solidFill>
                  <a:srgbClr val="69758A"/>
                </a:solidFill>
                <a:latin typeface="Arial"/>
              </a:defRPr>
            </a:pPr>
            <a:r>
              <a:t>PDF viewing, markups, measurements, and drawing review workspace.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02920" y="6473952"/>
            <a:ext cx="45720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750" b="0">
                <a:solidFill>
                  <a:srgbClr val="919BAB"/>
                </a:solidFill>
                <a:latin typeface="Arial"/>
              </a:defRPr>
            </a:pPr>
            <a:r>
              <a:t>XYRA Studio | Private AI for EPC drawing deliverables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>
              <a:defRPr sz="750" b="0">
                <a:solidFill>
                  <a:srgbClr val="919BAB"/>
                </a:solidFill>
                <a:latin typeface="Arial"/>
              </a:defRPr>
            </a:pPr>
            <a: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4663440" y="128016"/>
            <a:ext cx="2103120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5376672" y="128016"/>
            <a:ext cx="2103120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6089904" y="128016"/>
            <a:ext cx="2103120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6803136" y="128016"/>
            <a:ext cx="2103120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7516367" y="128016"/>
            <a:ext cx="2103121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8229600" y="128016"/>
            <a:ext cx="2103120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942832" y="128016"/>
            <a:ext cx="2103120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457200"/>
            <a:ext cx="43891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50" b="1">
                <a:solidFill>
                  <a:srgbClr val="00A49C"/>
                </a:solidFill>
                <a:latin typeface="Arial"/>
              </a:defRPr>
            </a:pPr>
            <a:r>
              <a:t>DEPLOYMENT 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731520"/>
            <a:ext cx="7955279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800" b="1">
                <a:solidFill>
                  <a:srgbClr val="0A111F"/>
                </a:solidFill>
                <a:latin typeface="Arial"/>
              </a:defRPr>
            </a:pPr>
            <a:r>
              <a:t>Runs where the drawings live.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353312"/>
            <a:ext cx="7498079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220" b="0">
                <a:solidFill>
                  <a:srgbClr val="465469"/>
                </a:solidFill>
                <a:latin typeface="Arial"/>
              </a:defRPr>
            </a:pPr>
            <a:r>
              <a:t>A practical architecture for client internal networks, monthly licensing, and controlled support.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2121408"/>
            <a:ext cx="658368" cy="658368"/>
          </a:xfrm>
          <a:prstGeom prst="ellipse">
            <a:avLst/>
          </a:prstGeom>
          <a:solidFill>
            <a:srgbClr val="EDFCFA"/>
          </a:solidFill>
          <a:ln>
            <a:solidFill>
              <a:srgbClr val="00A4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276856"/>
            <a:ext cx="22860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0A49C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89504"/>
            <a:ext cx="1115568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819" b="1">
                <a:solidFill>
                  <a:srgbClr val="0A111F"/>
                </a:solidFill>
                <a:latin typeface="Arial"/>
              </a:defRPr>
            </a:pPr>
            <a:r>
              <a:t>User browser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45920" y="2450592"/>
            <a:ext cx="1088135" cy="0"/>
          </a:xfrm>
          <a:prstGeom prst="line">
            <a:avLst/>
          </a:prstGeom>
          <a:ln w="1778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807207" y="2121408"/>
            <a:ext cx="658368" cy="658368"/>
          </a:xfrm>
          <a:prstGeom prst="ellipse">
            <a:avLst/>
          </a:prstGeom>
          <a:solidFill>
            <a:srgbClr val="EDFCFA"/>
          </a:solidFill>
          <a:ln>
            <a:solidFill>
              <a:srgbClr val="00A4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19" y="2276856"/>
            <a:ext cx="22860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0A49C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8607" y="2889504"/>
            <a:ext cx="1115568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819" b="1">
                <a:solidFill>
                  <a:srgbClr val="0A111F"/>
                </a:solidFill>
                <a:latin typeface="Arial"/>
              </a:defRPr>
            </a:pPr>
            <a:r>
              <a:t>nginx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520439" y="2450592"/>
            <a:ext cx="1088135" cy="0"/>
          </a:xfrm>
          <a:prstGeom prst="line">
            <a:avLst/>
          </a:prstGeom>
          <a:ln w="1778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681727" y="2121408"/>
            <a:ext cx="658368" cy="658368"/>
          </a:xfrm>
          <a:prstGeom prst="ellipse">
            <a:avLst/>
          </a:prstGeom>
          <a:solidFill>
            <a:srgbClr val="EDFCFA"/>
          </a:solidFill>
          <a:ln>
            <a:solidFill>
              <a:srgbClr val="00A4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39" y="2276856"/>
            <a:ext cx="22860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0A49C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7" y="2889504"/>
            <a:ext cx="1115568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819" b="1">
                <a:solidFill>
                  <a:srgbClr val="0A111F"/>
                </a:solidFill>
                <a:latin typeface="Arial"/>
              </a:defRPr>
            </a:pPr>
            <a:r>
              <a:t>API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394959" y="2450592"/>
            <a:ext cx="1088135" cy="0"/>
          </a:xfrm>
          <a:prstGeom prst="line">
            <a:avLst/>
          </a:prstGeom>
          <a:ln w="1778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556247" y="2121408"/>
            <a:ext cx="658368" cy="658368"/>
          </a:xfrm>
          <a:prstGeom prst="ellipse">
            <a:avLst/>
          </a:prstGeom>
          <a:solidFill>
            <a:srgbClr val="EDFCFA"/>
          </a:solidFill>
          <a:ln>
            <a:solidFill>
              <a:srgbClr val="00A4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59" y="2276856"/>
            <a:ext cx="22860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0A49C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7" y="2889504"/>
            <a:ext cx="1115568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819" b="1">
                <a:solidFill>
                  <a:srgbClr val="0A111F"/>
                </a:solidFill>
                <a:latin typeface="Arial"/>
              </a:defRPr>
            </a:pPr>
            <a:r>
              <a:t>Worker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269479" y="2450592"/>
            <a:ext cx="1088135" cy="0"/>
          </a:xfrm>
          <a:prstGeom prst="line">
            <a:avLst/>
          </a:prstGeom>
          <a:ln w="1778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430767" y="2121408"/>
            <a:ext cx="658368" cy="658368"/>
          </a:xfrm>
          <a:prstGeom prst="ellipse">
            <a:avLst/>
          </a:prstGeom>
          <a:solidFill>
            <a:srgbClr val="EAF5FF"/>
          </a:solidFill>
          <a:ln>
            <a:solidFill>
              <a:srgbClr val="2C6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79" y="2276856"/>
            <a:ext cx="22860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2C67D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2167" y="2889504"/>
            <a:ext cx="1115568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819" b="1">
                <a:solidFill>
                  <a:srgbClr val="0A111F"/>
                </a:solidFill>
                <a:latin typeface="Arial"/>
              </a:defRPr>
            </a:pPr>
            <a:r>
              <a:t>Local LLM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3886200"/>
            <a:ext cx="251460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3886200"/>
            <a:ext cx="2514600" cy="64008"/>
          </a:xfrm>
          <a:prstGeom prst="rect">
            <a:avLst/>
          </a:prstGeom>
          <a:solidFill>
            <a:srgbClr val="00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4087368"/>
            <a:ext cx="2112264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200" b="1">
                <a:solidFill>
                  <a:srgbClr val="0A111F"/>
                </a:solidFill>
                <a:latin typeface="Arial"/>
              </a:defRPr>
            </a:pPr>
            <a:r>
              <a:t>One exposed 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" y="4507992"/>
            <a:ext cx="2112264" cy="5394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40" b="0">
                <a:solidFill>
                  <a:srgbClr val="69758A"/>
                </a:solidFill>
                <a:latin typeface="Arial"/>
              </a:defRPr>
            </a:pPr>
            <a:r>
              <a:t>Browser traffic enters through port 80. Backend and model services stay hidden.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84448" y="3886200"/>
            <a:ext cx="251460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584448" y="3886200"/>
            <a:ext cx="2514600" cy="64008"/>
          </a:xfrm>
          <a:prstGeom prst="rect">
            <a:avLst/>
          </a:prstGeom>
          <a:solidFill>
            <a:srgbClr val="2C6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85616" y="4087368"/>
            <a:ext cx="2112264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200" b="1">
                <a:solidFill>
                  <a:srgbClr val="0A111F"/>
                </a:solidFill>
                <a:latin typeface="Arial"/>
              </a:defRPr>
            </a:pPr>
            <a:r>
              <a:t>Client data stays local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85616" y="4507992"/>
            <a:ext cx="2112264" cy="5394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40" b="0">
                <a:solidFill>
                  <a:srgbClr val="69758A"/>
                </a:solidFill>
                <a:latin typeface="Arial"/>
              </a:defRPr>
            </a:pPr>
            <a:r>
              <a:t>P&amp;IDs and extracted data remain on the client-controlled server.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91656" y="3886200"/>
            <a:ext cx="251460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91656" y="3886200"/>
            <a:ext cx="2514600" cy="64008"/>
          </a:xfrm>
          <a:prstGeom prst="rect">
            <a:avLst/>
          </a:prstGeom>
          <a:solidFill>
            <a:srgbClr val="219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92824" y="4087368"/>
            <a:ext cx="2112264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200" b="1">
                <a:solidFill>
                  <a:srgbClr val="0A111F"/>
                </a:solidFill>
                <a:latin typeface="Arial"/>
              </a:defRPr>
            </a:pPr>
            <a:r>
              <a:t>Project context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92824" y="4507992"/>
            <a:ext cx="2112264" cy="5394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40" b="0">
                <a:solidFill>
                  <a:srgbClr val="69758A"/>
                </a:solidFill>
                <a:latin typeface="Arial"/>
              </a:defRPr>
            </a:pPr>
            <a:r>
              <a:t>Client legends, project scope, and naming rules can guide the extraction workflow.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98864" y="3886200"/>
            <a:ext cx="251460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98864" y="3886200"/>
            <a:ext cx="2514600" cy="64008"/>
          </a:xfrm>
          <a:prstGeom prst="rect">
            <a:avLst/>
          </a:prstGeom>
          <a:solidFill>
            <a:srgbClr val="E18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00032" y="4087368"/>
            <a:ext cx="2112264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200" b="1">
                <a:solidFill>
                  <a:srgbClr val="0A111F"/>
                </a:solidFill>
                <a:latin typeface="Arial"/>
              </a:defRPr>
            </a:pPr>
            <a:r>
              <a:t>Support-ready roadmap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00032" y="4507992"/>
            <a:ext cx="2112264" cy="5394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40" b="0">
                <a:solidFill>
                  <a:srgbClr val="69758A"/>
                </a:solidFill>
                <a:latin typeface="Arial"/>
              </a:defRPr>
            </a:pPr>
            <a:r>
              <a:t>Health dashboard, logs, bundles, and redeploy checks reduce support burden.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73952"/>
            <a:ext cx="45720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750" b="0">
                <a:solidFill>
                  <a:srgbClr val="919BAB"/>
                </a:solidFill>
                <a:latin typeface="Arial"/>
              </a:defRPr>
            </a:pPr>
            <a:r>
              <a:t>XYRA Studio | Private AI for EPC drawing deliverables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>
              <a:defRPr sz="750" b="0">
                <a:solidFill>
                  <a:srgbClr val="919BAB"/>
                </a:solidFill>
                <a:latin typeface="Arial"/>
              </a:defRPr>
            </a:pPr>
            <a: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4663440" y="128016"/>
            <a:ext cx="2103120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5376672" y="128016"/>
            <a:ext cx="2103120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6089904" y="128016"/>
            <a:ext cx="2103120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6803136" y="128016"/>
            <a:ext cx="2103120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7516367" y="128016"/>
            <a:ext cx="2103121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8229600" y="128016"/>
            <a:ext cx="2103120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942832" y="128016"/>
            <a:ext cx="2103120" cy="6729984"/>
          </a:xfrm>
          <a:prstGeom prst="line">
            <a:avLst/>
          </a:prstGeom>
          <a:ln w="7620">
            <a:solidFill>
              <a:srgbClr val="EFF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457200"/>
            <a:ext cx="43891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50" b="1">
                <a:solidFill>
                  <a:srgbClr val="00A49C"/>
                </a:solidFill>
                <a:latin typeface="Arial"/>
              </a:defRPr>
            </a:pPr>
            <a:r>
              <a:t>PILOT OFFER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731520"/>
            <a:ext cx="7955279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800" b="1">
                <a:solidFill>
                  <a:srgbClr val="0A111F"/>
                </a:solidFill>
                <a:latin typeface="Arial"/>
              </a:defRPr>
            </a:pPr>
            <a:r>
              <a:t>Prove value on a real drawing package.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353312"/>
            <a:ext cx="7498079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220" b="0">
                <a:solidFill>
                  <a:srgbClr val="465469"/>
                </a:solidFill>
                <a:latin typeface="Arial"/>
              </a:defRPr>
            </a:pPr>
            <a:r>
              <a:t>A focused pilot gives the EPC a clear decision: time saved, output quality, and deployment fit.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828800"/>
            <a:ext cx="3246120" cy="214884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1828800"/>
            <a:ext cx="3246120" cy="64008"/>
          </a:xfrm>
          <a:prstGeom prst="rect">
            <a:avLst/>
          </a:prstGeom>
          <a:solidFill>
            <a:srgbClr val="00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029968"/>
            <a:ext cx="2843784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200" b="1">
                <a:solidFill>
                  <a:srgbClr val="0A111F"/>
                </a:solidFill>
                <a:latin typeface="Arial"/>
              </a:defRPr>
            </a:pPr>
            <a:r>
              <a:t>Week 1: configure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450592"/>
            <a:ext cx="2843784" cy="1362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40" b="0">
                <a:solidFill>
                  <a:srgbClr val="69758A"/>
                </a:solidFill>
                <a:latin typeface="Arial"/>
              </a:defRPr>
            </a:pPr>
            <a:r>
              <a:t>Install inside client network</a:t>
            </a:r>
            <a:br/>
            <a:r>
              <a:t>Load project legend and sample drawings</a:t>
            </a:r>
            <a:br/>
            <a:r>
              <a:t>Run first extraction and review calibration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62272" y="1828800"/>
            <a:ext cx="3246120" cy="214884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62272" y="1828800"/>
            <a:ext cx="3246120" cy="64008"/>
          </a:xfrm>
          <a:prstGeom prst="rect">
            <a:avLst/>
          </a:prstGeom>
          <a:solidFill>
            <a:srgbClr val="2C6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2029968"/>
            <a:ext cx="2843784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200" b="1">
                <a:solidFill>
                  <a:srgbClr val="0A111F"/>
                </a:solidFill>
                <a:latin typeface="Arial"/>
              </a:defRPr>
            </a:pPr>
            <a:r>
              <a:t>Week 2: 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450592"/>
            <a:ext cx="2843784" cy="1362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40" b="0">
                <a:solidFill>
                  <a:srgbClr val="69758A"/>
                </a:solidFill>
                <a:latin typeface="Arial"/>
              </a:defRPr>
            </a:pPr>
            <a:r>
              <a:t>Process 20-50 representative P&amp;IDs</a:t>
            </a:r>
            <a:br/>
            <a:r>
              <a:t>Compare against manual workflow</a:t>
            </a:r>
            <a:br/>
            <a:r>
              <a:t>Review Instrument Index, IO List, MTO, and PDF markups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74736" y="1828800"/>
            <a:ext cx="3246120" cy="2148840"/>
          </a:xfrm>
          <a:prstGeom prst="rect">
            <a:avLst/>
          </a:prstGeom>
          <a:solidFill>
            <a:srgbClr val="FFFFFF"/>
          </a:solidFill>
          <a:ln w="1143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828800"/>
            <a:ext cx="3246120" cy="64008"/>
          </a:xfrm>
          <a:prstGeom prst="rect">
            <a:avLst/>
          </a:prstGeom>
          <a:solidFill>
            <a:srgbClr val="219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75904" y="2029968"/>
            <a:ext cx="2843784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200" b="1">
                <a:solidFill>
                  <a:srgbClr val="0A111F"/>
                </a:solidFill>
                <a:latin typeface="Arial"/>
              </a:defRPr>
            </a:pPr>
            <a:r>
              <a:t>Decision pack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2450592"/>
            <a:ext cx="2843784" cy="1362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40" b="0">
                <a:solidFill>
                  <a:srgbClr val="69758A"/>
                </a:solidFill>
                <a:latin typeface="Arial"/>
              </a:defRPr>
            </a:pPr>
            <a:r>
              <a:t>Coverage summary</a:t>
            </a:r>
            <a:br/>
            <a:r>
              <a:t>Review exceptions</a:t>
            </a:r>
            <a:br/>
            <a:r>
              <a:t>Deployment checklist</a:t>
            </a:r>
            <a:br/>
            <a:r>
              <a:t>Monthly license proposal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4892040"/>
            <a:ext cx="10195560" cy="713232"/>
          </a:xfrm>
          <a:prstGeom prst="rect">
            <a:avLst/>
          </a:prstGeom>
          <a:solidFill>
            <a:srgbClr val="10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5074920"/>
            <a:ext cx="9738360" cy="23774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Next step: run XYRA on one EPC drawing package and review the generated deliverables together.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45720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750" b="0">
                <a:solidFill>
                  <a:srgbClr val="919BAB"/>
                </a:solidFill>
                <a:latin typeface="Arial"/>
              </a:defRPr>
            </a:pPr>
            <a:r>
              <a:t>XYRA Studio | Private AI for EPC drawing deliverables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>
              <a:defRPr sz="750" b="0">
                <a:solidFill>
                  <a:srgbClr val="919BAB"/>
                </a:solidFill>
                <a:latin typeface="Arial"/>
              </a:defRPr>
            </a:pPr>
            <a: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